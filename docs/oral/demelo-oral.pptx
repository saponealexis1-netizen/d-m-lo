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c94ba0-3e83-4741-0d2e-eb59ac290736}">
          <p14:sldIdLst>
            <p14:sldId id="256"/>
          </p14:sldIdLst>
        </p14:section>
        <p14:section name="Curiosité" id="{6253934e-9087-419a-9753-f45794b08f89}">
          <p14:sldIdLst>
            <p14:sldId id="257"/>
          </p14:sldIdLst>
        </p14:section>
        <p14:section name="Discernement" id="{0831b3c5-9500-2a72-4f0c-5808b6b47a0e}">
          <p14:sldIdLst>
            <p14:sldId id="258"/>
          </p14:sldIdLst>
        </p14:section>
        <p14:section name="Adaptabilité" id="{b31d52ea-82af-0cde-2857-bdd744198ebf}">
          <p14:sldIdLst>
            <p14:sldId id="259"/>
            <p14:sldId id="260"/>
            <p14:sldId id="261"/>
          </p14:sldIdLst>
        </p14:section>
        <p14:section name="Détermination" id="{5c8a8a69-068f-4f06-9a56-99fc97878ba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nous a demandé une application pour initier les jeunes à la politique. Les jeunes s'informent surtout par les réseaux, où le vrai et le faux se mélangent. Notre réponse, c'est Démêlo : on part de la phrase exacte qu'un jeune lit dans un article, et on lui met sous les yeux le document officiel qui la confirme ou non. Nous allons vous présenter le projet en quatre temps : curiosité, discernement, adaptabilité et détermination.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coder, on a regardé ce qui existait. Elyze, en 2022, faisait swiper les propositions des candidats, mais ne vérifiait aucun fait. Leurs Votes, du média Bon Pote, regroupe et classe près de 1 700 scrutins de l'Assemblée, mais ne débunke rien de ce que racontent les médias. Les Décodeurs du Monde, AFP Factuel ou Les Surligneurs font du fact-checking, mais avec des articles de journalistes ou de juristes, sur des sujets choisis par leur rédaction. Démêlo fait autre chose : on part de la phrase exacte que le jeune a lue dans un article, et on lui met sous les yeux le passage officiel qui la confirme ou non, mot pour mot, avec ses limites. Quand il n'y a pas de preuve, on ne tranche pas. Les Décodeurs vérifient ce que disent les politiques ; nous, on vérifie ce que les médias racontent aux jeunes.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classé nos critères en trois niveaux. D'abord les indispensables, sans lesquels le projet ne fonctionne pas : la fiabilité, chaque affirmation a une preuve officielle ; la neutralité, sans preuve on s'abstient ; et la sécurité, personne ne publie ni ne modifie sans droit. On les a mesurés : 13 preuves sur 13 retrouvées mot pour mot, 52 tests de sécurité sur 52, zéro donnée fictive visible du public. Ensuite, ce qui est bien : la transparence, avec la mention « Analyse produite par IA » et les limites de chaque analyse ; de vrais articles de presse ; et un site en ligne sur Netlify. Enfin, les bonus, pour la suite : lancer les tests automatiques par l'API, ajouter d'autres sources comme la DARES, et surtout tester l'appli avec de vrais jeunes.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Imaginez une bibliothèque. Supabase, c'est le bâtiment. Nos données sont rangées dans quatre tables, comme quatre rayons : les contenus, c'est-à-dire les articles de presse, 760 lignes ; les sources, les 15 organismes officiels ; les affirmations, les 10 phrases qu'on vérifie ; et les preuves, 13 documents officiels. Des fils relient les rayons : ce sont les clés étrangères. Une preuve pointe toujours vers une affirmation qui existe, sinon la base refuse. Le site ne lit jamais les tables directement. Il passe par deux vitrines, les vues. La première, v_feed_verifie, montre les 260 vrais articles, sans les 500 données de test. La seconde, v_analyses_publiques, montre seulement les 9 analyses publiées, avec leurs preuves, leurs limites et la mention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RLS, c'est un gardien devant chaque table. Il regarde votre badge — visiteur, connecté ou admin — et filtre ligne par ligne. Il y a quatre profils : le visiteur anonyme, qui lit seulement ce qui est public ; le compte connecté sans rôle, qui a les mêmes droits ; l'administrateur, qui voit tout et écrit, toujours contrôlé par des triggers ; et le pipeline, un rôle technique qui collecte les articles sans jamais rien supprimer. Exemple sur la table contenus : contenus_lecture laisse tout le monde lire les vrais articles publics, mais cache les 500 fictifs ; contenus_ajout et contenus_modif réservent l'ajout et la modification aux administrateurs. Attention : authenticated ne veut pas dire tous les utilisateurs connectés. Chaque policy appelle la fonction prive.est_admin(), qui lit le rôle dans le jeton de connexion, un champ que l'utilisateur ne peut pas modifier lui-même. Enfin, il y a deux portes : le GRANT dit quelle action un rôle peut tenter, la policy dit sur quelles lignes. Et comme le gardien est dans la base, même quelqu'un qui contourne le site tombe sur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ne s'est pas contenté d'écrire les règles : on les a testées avec chaque badge, sur le vrai projet. Le visiteur voit 260 articles, aucune donnée fictive, 9 analyses, et ne peut rien écrire. Le compte connecté sans rôle voit la même chose ; s'il essaie de modifier, zéro ligne change. L'administrateur voit les 760 contenus, dont les 500 fictifs, et les 10 analyses. Le pipeline voit les vrais articles, jamais les fictifs, et ne peut rien supprimer. Au total, 52 tests SQL : 35 sur les policies, 10 sur les GRANT et 7 sur les écritures interdites. Les 52 sont réussis.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rencontré trois obstacles. D'abord le scraping : plusieurs sites officiels bloquent les robots, comme Légifrance, AFP Factuel ou le Conseil constitutionnel. On n'a contourné aucun blocage : on a renoncé aux affirmations qu'on ne pouvait pas prouver. Ensuite la sécurité : écrire et faire passer les 52 tests RLS a pris beaucoup de temps, jusqu'au dernier, bloqué à 51 sur 52, qu'on a fini par comprendre. Enfin l'organisation : chaque partie dépendait des autres, impossible d'avancer chacun dans son coin. On a donc travaillé en deux binômes. Alexis S et Mehdi ont configuré Supabase : tables, RLS, vues et tests. Alexis H et Aurélie ont fait la veille sur l'existant, vérifié les sources et la qualité des données, et construit le site, déployé sur Netlify.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291840"/>
            <a:ext cx="10058400" cy="14630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Démêlo · Oral du 29 octobre 2026</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Démêlo</a:t>
            </a:r>
            <a:endParaRPr lang="en-US" sz="6000" dirty="0"/>
          </a:p>
        </p:txBody>
      </p:sp>
      <p:sp>
        <p:nvSpPr>
          <p:cNvPr id="3" name="Text 0"/>
          <p:cNvSpPr/>
          <p:nvPr>
            <p:ph idx="101" type="body" hasCustomPrompt="1"/>
          </p:nvPr>
        </p:nvSpPr>
        <p:spPr>
          <a:xfrm>
            <a:off x="731520" y="3291840"/>
            <a:ext cx="10058400" cy="1463040"/>
          </a:xfrm>
          <a:prstGeom prst="rect">
            <a:avLst/>
          </a:prstGeom>
          <a:noFill/>
          <a:ln/>
        </p:spPr>
        <p:txBody>
          <a:bodyPr wrap="square" lIns="0" tIns="0" rIns="0" bIns="0" rtlCol="0" anchor="t"/>
          <a:lstStyle/>
          <a:p>
            <a:pPr algn="l" indent="0" marL="0">
              <a:buNone/>
            </a:pPr>
            <a:r>
              <a:rPr lang="en-US" sz="2200" b="1" dirty="0">
                <a:solidFill>
                  <a:schemeClr val="bg1"/>
                </a:solidFill>
              </a:rPr>
              <a:t>Comment faire une application pour initier les jeunes à la politique ?</a:t>
            </a:r>
            <a:endParaRPr lang="en-US" sz="2200" dirty="0"/>
          </a:p>
          <a:p>
            <a:pPr algn="l" indent="0" marL="0">
              <a:buNone/>
            </a:pPr>
            <a:r>
              <a:rPr lang="en-US" sz="2200" dirty="0">
                <a:solidFill>
                  <a:schemeClr val="accent6"/>
                </a:solidFill>
              </a:rPr>
              <a:t>Notre réponse : vérifier ce que les médias racontent aux jeunes, preuve officielle à l'appui.</a:t>
            </a:r>
            <a:endParaRPr lang="en-US" sz="2200" dirty="0"/>
          </a:p>
        </p:txBody>
      </p:sp>
      <p:sp>
        <p:nvSpPr>
          <p:cNvPr id="4" name="Pastille Curiosité"/>
          <p:cNvSpPr/>
          <p:nvPr/>
        </p:nvSpPr>
        <p:spPr>
          <a:xfrm>
            <a:off x="731520" y="52578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98448" y="5257800"/>
            <a:ext cx="2011680" cy="457200"/>
          </a:xfrm>
          <a:prstGeom prst="rect">
            <a:avLst/>
          </a:prstGeom>
          <a:noFill/>
          <a:ln/>
        </p:spPr>
        <p:txBody>
          <a:bodyPr wrap="square" lIns="0" tIns="0" rIns="0" bIns="0" rtlCol="0" anchor="ctr"/>
          <a:lstStyle/>
          <a:p>
            <a:pPr indent="0" marL="0">
              <a:buNone/>
            </a:pPr>
            <a:r>
              <a:rPr lang="en-US" sz="1800" dirty="0">
                <a:solidFill>
                  <a:schemeClr val="bg1"/>
                </a:solidFill>
              </a:rPr>
              <a:t>Curiosité</a:t>
            </a:r>
            <a:endParaRPr lang="en-US" sz="1800" dirty="0"/>
          </a:p>
        </p:txBody>
      </p:sp>
      <p:sp>
        <p:nvSpPr>
          <p:cNvPr id="7" name="Pastille Discernement"/>
          <p:cNvSpPr/>
          <p:nvPr/>
        </p:nvSpPr>
        <p:spPr>
          <a:xfrm>
            <a:off x="3429000" y="5257800"/>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342900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3995928" y="5257800"/>
            <a:ext cx="2011680" cy="457200"/>
          </a:xfrm>
          <a:prstGeom prst="rect">
            <a:avLst/>
          </a:prstGeom>
          <a:noFill/>
          <a:ln/>
        </p:spPr>
        <p:txBody>
          <a:bodyPr wrap="square" lIns="0" tIns="0" rIns="0" bIns="0" rtlCol="0" anchor="ctr"/>
          <a:lstStyle/>
          <a:p>
            <a:pPr indent="0" marL="0">
              <a:buNone/>
            </a:pPr>
            <a:r>
              <a:rPr lang="en-US" sz="1800" dirty="0">
                <a:solidFill>
                  <a:schemeClr val="bg1"/>
                </a:solidFill>
              </a:rPr>
              <a:t>Discernement</a:t>
            </a:r>
            <a:endParaRPr lang="en-US" sz="1800" dirty="0"/>
          </a:p>
        </p:txBody>
      </p:sp>
      <p:sp>
        <p:nvSpPr>
          <p:cNvPr id="10" name="Pastille Adaptabilité"/>
          <p:cNvSpPr/>
          <p:nvPr/>
        </p:nvSpPr>
        <p:spPr>
          <a:xfrm>
            <a:off x="6126480" y="5257800"/>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612648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6693408" y="5257800"/>
            <a:ext cx="2011680" cy="457200"/>
          </a:xfrm>
          <a:prstGeom prst="rect">
            <a:avLst/>
          </a:prstGeom>
          <a:noFill/>
          <a:ln/>
        </p:spPr>
        <p:txBody>
          <a:bodyPr wrap="square" lIns="0" tIns="0" rIns="0" bIns="0" rtlCol="0" anchor="ctr"/>
          <a:lstStyle/>
          <a:p>
            <a:pPr indent="0" marL="0">
              <a:buNone/>
            </a:pPr>
            <a:r>
              <a:rPr lang="en-US" sz="1800" dirty="0">
                <a:solidFill>
                  <a:schemeClr val="bg1"/>
                </a:solidFill>
              </a:rPr>
              <a:t>Adaptabilité</a:t>
            </a:r>
            <a:endParaRPr lang="en-US" sz="1800" dirty="0"/>
          </a:p>
        </p:txBody>
      </p:sp>
      <p:sp>
        <p:nvSpPr>
          <p:cNvPr id="13" name="Pastille Détermination"/>
          <p:cNvSpPr/>
          <p:nvPr/>
        </p:nvSpPr>
        <p:spPr>
          <a:xfrm>
            <a:off x="8823960" y="5257800"/>
            <a:ext cx="457200" cy="457200"/>
          </a:xfrm>
          <a:prstGeom prst="ellipse">
            <a:avLst/>
          </a:prstGeom>
          <a:solidFill>
            <a:schemeClr val="accent2"/>
          </a:solidFill>
          <a:ln w="12700">
            <a:solidFill>
              <a:schemeClr val="accent2"/>
            </a:solidFill>
            <a:prstDash val="solid"/>
          </a:ln>
        </p:spPr>
      </p:sp>
      <p:sp>
        <p:nvSpPr>
          <p:cNvPr id="14" name="Text 12"/>
          <p:cNvSpPr txBox="1"/>
          <p:nvPr/>
        </p:nvSpPr>
        <p:spPr>
          <a:xfrm>
            <a:off x="882396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9390888" y="5257800"/>
            <a:ext cx="2011680" cy="457200"/>
          </a:xfrm>
          <a:prstGeom prst="rect">
            <a:avLst/>
          </a:prstGeom>
          <a:noFill/>
          <a:ln/>
        </p:spPr>
        <p:txBody>
          <a:bodyPr wrap="square" lIns="0" tIns="0" rIns="0" bIns="0" rtlCol="0" anchor="ctr"/>
          <a:lstStyle/>
          <a:p>
            <a:pPr indent="0" marL="0">
              <a:buNone/>
            </a:pPr>
            <a:r>
              <a:rPr lang="en-US" sz="1800" dirty="0">
                <a:solidFill>
                  <a:schemeClr val="bg1"/>
                </a:solidFill>
              </a:rPr>
              <a:t>Détermination</a:t>
            </a:r>
            <a:endParaRPr lang="en-US" sz="1800" dirty="0"/>
          </a:p>
        </p:txBody>
      </p:sp>
      <p:sp>
        <p:nvSpPr>
          <p:cNvPr id="16" name="Text 14"/>
          <p:cNvSpPr txBox="1"/>
          <p:nvPr/>
        </p:nvSpPr>
        <p:spPr>
          <a:xfrm>
            <a:off x="731520" y="6080760"/>
            <a:ext cx="7315200" cy="365760"/>
          </a:xfrm>
          <a:prstGeom prst="rect">
            <a:avLst/>
          </a:prstGeom>
          <a:noFill/>
          <a:ln/>
        </p:spPr>
        <p:txBody>
          <a:bodyPr wrap="square" lIns="0" tIns="0" rIns="0" bIns="0" rtlCol="0" anchor="ctr"/>
          <a:lstStyle/>
          <a:p>
            <a:pPr indent="0" marL="0">
              <a:buNone/>
            </a:pPr>
            <a:r>
              <a:rPr lang="en-US" sz="1400" dirty="0">
                <a:solidFill>
                  <a:schemeClr val="accent6"/>
                </a:solidFill>
              </a:rPr>
              <a:t>Alexis H · Aurélie · Alexis S · Mehdi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CURIOSITÉ</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Ce qui existe déjà… et ce qu'il manque</a:t>
            </a:r>
            <a:endParaRPr lang="en-US" sz="3400" dirty="0"/>
          </a:p>
        </p:txBody>
      </p:sp>
      <p:sp>
        <p:nvSpPr>
          <p:cNvPr id="6" name="Carte Elyze"/>
          <p:cNvSpPr/>
          <p:nvPr/>
        </p:nvSpPr>
        <p:spPr>
          <a:xfrm>
            <a:off x="548640" y="1600200"/>
            <a:ext cx="3520440" cy="2011680"/>
          </a:xfrm>
          <a:prstGeom prst="roundRect">
            <a:avLst>
              <a:gd name="adj" fmla="val 5455"/>
            </a:avLst>
          </a:prstGeom>
          <a:solidFill>
            <a:schemeClr val="bg2"/>
          </a:solidFill>
          <a:ln w="12700">
            <a:solidFill>
              <a:schemeClr val="bg2"/>
            </a:solidFill>
            <a:prstDash val="solid"/>
          </a:ln>
        </p:spPr>
      </p:sp>
      <p:sp>
        <p:nvSpPr>
          <p:cNvPr id="7" name="Text 5"/>
          <p:cNvSpPr txBox="1"/>
          <p:nvPr/>
        </p:nvSpPr>
        <p:spPr>
          <a:xfrm>
            <a:off x="777240" y="1783080"/>
            <a:ext cx="3063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Elyze</a:t>
            </a:r>
            <a:endParaRPr lang="en-US" sz="1800" dirty="0"/>
          </a:p>
          <a:p>
            <a:pPr indent="0" marL="0">
              <a:spcAft>
                <a:spcPts val="600"/>
              </a:spcAft>
              <a:buNone/>
            </a:pPr>
            <a:r>
              <a:rPr lang="en-US" sz="1400" dirty="0">
                <a:solidFill>
                  <a:schemeClr val="tx1"/>
                </a:solidFill>
              </a:rPr>
              <a:t>On swipe les propositions des candidats (2022).</a:t>
            </a:r>
            <a:endParaRPr lang="en-US" sz="1800" dirty="0"/>
          </a:p>
          <a:p>
            <a:pPr indent="0" marL="0">
              <a:spcAft>
                <a:spcPts val="600"/>
              </a:spcAft>
              <a:buNone/>
            </a:pPr>
            <a:r>
              <a:rPr lang="en-US" sz="1400" i="1" dirty="0">
                <a:solidFill>
                  <a:schemeClr val="accent2"/>
                </a:solidFill>
              </a:rPr>
              <a:t>Il manque : Liée à une élection, aucun fait vérifié.</a:t>
            </a:r>
            <a:endParaRPr lang="en-US" sz="1800" dirty="0"/>
          </a:p>
        </p:txBody>
      </p:sp>
      <p:sp>
        <p:nvSpPr>
          <p:cNvPr id="8" name="Carte Leurs Votes (Bon Pote)"/>
          <p:cNvSpPr/>
          <p:nvPr/>
        </p:nvSpPr>
        <p:spPr>
          <a:xfrm>
            <a:off x="4251960" y="1600200"/>
            <a:ext cx="3520440" cy="2011680"/>
          </a:xfrm>
          <a:prstGeom prst="roundRect">
            <a:avLst>
              <a:gd name="adj" fmla="val 5455"/>
            </a:avLst>
          </a:prstGeom>
          <a:solidFill>
            <a:schemeClr val="bg2"/>
          </a:solidFill>
          <a:ln w="12700">
            <a:solidFill>
              <a:schemeClr val="bg2"/>
            </a:solidFill>
            <a:prstDash val="solid"/>
          </a:ln>
        </p:spPr>
      </p:sp>
      <p:sp>
        <p:nvSpPr>
          <p:cNvPr id="9" name="Text 7"/>
          <p:cNvSpPr txBox="1"/>
          <p:nvPr/>
        </p:nvSpPr>
        <p:spPr>
          <a:xfrm>
            <a:off x="4480560" y="1783080"/>
            <a:ext cx="3063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Leurs Votes (Bon Pote)</a:t>
            </a:r>
            <a:endParaRPr lang="en-US" sz="1800" dirty="0"/>
          </a:p>
          <a:p>
            <a:pPr indent="0" marL="0">
              <a:spcAft>
                <a:spcPts val="600"/>
              </a:spcAft>
              <a:buNone/>
            </a:pPr>
            <a:r>
              <a:rPr lang="en-US" sz="1400" dirty="0">
                <a:solidFill>
                  <a:schemeClr val="tx1"/>
                </a:solidFill>
              </a:rPr>
              <a:t>Près de 1 700 scrutins de l'Assemblée classés.</a:t>
            </a:r>
            <a:endParaRPr lang="en-US" sz="1800" dirty="0"/>
          </a:p>
          <a:p>
            <a:pPr indent="0" marL="0">
              <a:spcAft>
                <a:spcPts val="600"/>
              </a:spcAft>
              <a:buNone/>
            </a:pPr>
            <a:r>
              <a:rPr lang="en-US" sz="1400" i="1" dirty="0">
                <a:solidFill>
                  <a:schemeClr val="accent2"/>
                </a:solidFill>
              </a:rPr>
              <a:t>Il manque : Ne vérifie pas ce que racontent les médias.</a:t>
            </a:r>
            <a:endParaRPr lang="en-US" sz="1800" dirty="0"/>
          </a:p>
        </p:txBody>
      </p:sp>
      <p:sp>
        <p:nvSpPr>
          <p:cNvPr id="10" name="Carte Les Décodeurs, AFP Factuel"/>
          <p:cNvSpPr/>
          <p:nvPr/>
        </p:nvSpPr>
        <p:spPr>
          <a:xfrm>
            <a:off x="548640" y="3840480"/>
            <a:ext cx="3520440" cy="2011680"/>
          </a:xfrm>
          <a:prstGeom prst="roundRect">
            <a:avLst>
              <a:gd name="adj" fmla="val 5455"/>
            </a:avLst>
          </a:prstGeom>
          <a:solidFill>
            <a:schemeClr val="bg2"/>
          </a:solidFill>
          <a:ln w="12700">
            <a:solidFill>
              <a:schemeClr val="bg2"/>
            </a:solidFill>
            <a:prstDash val="solid"/>
          </a:ln>
        </p:spPr>
      </p:sp>
      <p:sp>
        <p:nvSpPr>
          <p:cNvPr id="11" name="Text 9"/>
          <p:cNvSpPr txBox="1"/>
          <p:nvPr/>
        </p:nvSpPr>
        <p:spPr>
          <a:xfrm>
            <a:off x="777240" y="4023360"/>
            <a:ext cx="3063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Les Décodeurs, AFP Factuel</a:t>
            </a:r>
            <a:endParaRPr lang="en-US" sz="1800" dirty="0"/>
          </a:p>
          <a:p>
            <a:pPr indent="0" marL="0">
              <a:spcAft>
                <a:spcPts val="600"/>
              </a:spcAft>
              <a:buNone/>
            </a:pPr>
            <a:r>
              <a:rPr lang="en-US" sz="1400" dirty="0">
                <a:solidFill>
                  <a:schemeClr val="tx1"/>
                </a:solidFill>
              </a:rPr>
              <a:t>Fact-checking par des journalistes.</a:t>
            </a:r>
            <a:endParaRPr lang="en-US" sz="1800" dirty="0"/>
          </a:p>
          <a:p>
            <a:pPr indent="0" marL="0">
              <a:spcAft>
                <a:spcPts val="600"/>
              </a:spcAft>
              <a:buNone/>
            </a:pPr>
            <a:r>
              <a:rPr lang="en-US" sz="1400" i="1" dirty="0">
                <a:solidFill>
                  <a:schemeClr val="accent2"/>
                </a:solidFill>
              </a:rPr>
              <a:t>Il manque : Sujets choisis par la rédaction.</a:t>
            </a:r>
            <a:endParaRPr lang="en-US" sz="1800" dirty="0"/>
          </a:p>
        </p:txBody>
      </p:sp>
      <p:sp>
        <p:nvSpPr>
          <p:cNvPr id="12" name="Carte Les Surligneurs"/>
          <p:cNvSpPr/>
          <p:nvPr/>
        </p:nvSpPr>
        <p:spPr>
          <a:xfrm>
            <a:off x="4251960" y="3840480"/>
            <a:ext cx="3520440" cy="2011680"/>
          </a:xfrm>
          <a:prstGeom prst="roundRect">
            <a:avLst>
              <a:gd name="adj" fmla="val 5455"/>
            </a:avLst>
          </a:prstGeom>
          <a:solidFill>
            <a:schemeClr val="bg2"/>
          </a:solidFill>
          <a:ln w="12700">
            <a:solidFill>
              <a:schemeClr val="bg2"/>
            </a:solidFill>
            <a:prstDash val="solid"/>
          </a:ln>
        </p:spPr>
      </p:sp>
      <p:sp>
        <p:nvSpPr>
          <p:cNvPr id="13" name="Text 11"/>
          <p:cNvSpPr txBox="1"/>
          <p:nvPr/>
        </p:nvSpPr>
        <p:spPr>
          <a:xfrm>
            <a:off x="4480560" y="4023360"/>
            <a:ext cx="3063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Les Surligneurs</a:t>
            </a:r>
            <a:endParaRPr lang="en-US" sz="1800" dirty="0"/>
          </a:p>
          <a:p>
            <a:pPr indent="0" marL="0">
              <a:spcAft>
                <a:spcPts val="600"/>
              </a:spcAft>
              <a:buNone/>
            </a:pPr>
            <a:r>
              <a:rPr lang="en-US" sz="1400" dirty="0">
                <a:solidFill>
                  <a:schemeClr val="tx1"/>
                </a:solidFill>
              </a:rPr>
              <a:t>Des juristes vérifient les propos politiques.</a:t>
            </a:r>
            <a:endParaRPr lang="en-US" sz="1800" dirty="0"/>
          </a:p>
          <a:p>
            <a:pPr indent="0" marL="0">
              <a:spcAft>
                <a:spcPts val="600"/>
              </a:spcAft>
              <a:buNone/>
            </a:pPr>
            <a:r>
              <a:rPr lang="en-US" sz="1400" i="1" dirty="0">
                <a:solidFill>
                  <a:schemeClr val="accent2"/>
                </a:solidFill>
              </a:rPr>
              <a:t>Il manque : Articles d'experts, pas pour débuter.</a:t>
            </a:r>
            <a:endParaRPr lang="en-US" sz="1800" dirty="0"/>
          </a:p>
        </p:txBody>
      </p:sp>
      <p:sp>
        <p:nvSpPr>
          <p:cNvPr id="14" name="Carte Démêlo"/>
          <p:cNvSpPr/>
          <p:nvPr/>
        </p:nvSpPr>
        <p:spPr>
          <a:xfrm>
            <a:off x="8092440" y="1600200"/>
            <a:ext cx="3520440" cy="4251960"/>
          </a:xfrm>
          <a:prstGeom prst="roundRect">
            <a:avLst>
              <a:gd name="adj" fmla="val 3117"/>
            </a:avLst>
          </a:prstGeom>
          <a:solidFill>
            <a:schemeClr val="tx2"/>
          </a:solidFill>
          <a:ln w="12700">
            <a:solidFill>
              <a:schemeClr val="tx2"/>
            </a:solidFill>
            <a:prstDash val="solid"/>
          </a:ln>
        </p:spPr>
      </p:sp>
      <p:sp>
        <p:nvSpPr>
          <p:cNvPr id="15" name="Text 13"/>
          <p:cNvSpPr txBox="1"/>
          <p:nvPr/>
        </p:nvSpPr>
        <p:spPr>
          <a:xfrm>
            <a:off x="8321040" y="1783080"/>
            <a:ext cx="3063240" cy="3886200"/>
          </a:xfrm>
          <a:prstGeom prst="rect">
            <a:avLst/>
          </a:prstGeom>
          <a:noFill/>
          <a:ln/>
        </p:spPr>
        <p:txBody>
          <a:bodyPr wrap="square" lIns="0" tIns="0" rIns="0" bIns="0" rtlCol="0" anchor="t"/>
          <a:lstStyle/>
          <a:p>
            <a:pPr indent="0" marL="0">
              <a:spcAft>
                <a:spcPts val="1000"/>
              </a:spcAft>
              <a:buNone/>
            </a:pPr>
            <a:r>
              <a:rPr lang="en-US" sz="2400" b="1" dirty="0">
                <a:solidFill>
                  <a:schemeClr val="bg1"/>
                </a:solidFill>
              </a:rPr>
              <a:t>Démêlo</a:t>
            </a:r>
            <a:endParaRPr lang="en-US" sz="2400" dirty="0"/>
          </a:p>
          <a:p>
            <a:pPr marL="342900" indent="-342900">
              <a:spcAft>
                <a:spcPts val="1000"/>
              </a:spcAft>
              <a:buSzPct val="100000"/>
              <a:buChar char="•"/>
            </a:pPr>
            <a:r>
              <a:rPr lang="en-US" sz="1500" dirty="0">
                <a:solidFill>
                  <a:schemeClr val="bg1"/>
                </a:solidFill>
              </a:rPr>
              <a:t>Part de la phrase exacte lue dans un article</a:t>
            </a:r>
            <a:endParaRPr lang="en-US" sz="2400" dirty="0"/>
          </a:p>
          <a:p>
            <a:pPr marL="342900" indent="-342900">
              <a:spcAft>
                <a:spcPts val="1000"/>
              </a:spcAft>
              <a:buSzPct val="100000"/>
              <a:buChar char="•"/>
            </a:pPr>
            <a:r>
              <a:rPr lang="en-US" sz="1500" dirty="0">
                <a:solidFill>
                  <a:schemeClr val="bg1"/>
                </a:solidFill>
              </a:rPr>
              <a:t>Montre le passage officiel, mot pour mot</a:t>
            </a:r>
            <a:endParaRPr lang="en-US" sz="2400" dirty="0"/>
          </a:p>
          <a:p>
            <a:pPr marL="342900" indent="-342900">
              <a:spcAft>
                <a:spcPts val="1000"/>
              </a:spcAft>
              <a:buSzPct val="100000"/>
              <a:buChar char="•"/>
            </a:pPr>
            <a:r>
              <a:rPr lang="en-US" sz="1500" dirty="0">
                <a:solidFill>
                  <a:schemeClr val="bg1"/>
                </a:solidFill>
              </a:rPr>
              <a:t>Affiche les limites de chaque analyse</a:t>
            </a:r>
            <a:endParaRPr lang="en-US" sz="2400" dirty="0"/>
          </a:p>
          <a:p>
            <a:pPr marL="342900" indent="-342900">
              <a:spcAft>
                <a:spcPts val="1000"/>
              </a:spcAft>
              <a:buSzPct val="100000"/>
              <a:buChar char="•"/>
            </a:pPr>
            <a:r>
              <a:rPr lang="en-US" sz="1500" dirty="0">
                <a:solidFill>
                  <a:schemeClr val="accent4"/>
                </a:solidFill>
              </a:rPr>
              <a:t>Sans preuve, on ne tranche pas</a:t>
            </a:r>
            <a:endParaRPr lang="en-US" sz="2400" dirty="0"/>
          </a:p>
        </p:txBody>
      </p:sp>
      <p:sp>
        <p:nvSpPr>
          <p:cNvPr id="16" name="Text 1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500" i="1" dirty="0">
                <a:solidFill>
                  <a:schemeClr val="tx2"/>
                </a:solidFill>
              </a:rPr>
              <a:t>Les Décodeurs vérifient ce que disent les politiques ; nous, ce que les médias racontent aux jeunes.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DISCERNEMENT</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Nos critères, de l'indispensable au bonus</a:t>
            </a:r>
            <a:endParaRPr lang="en-US" sz="3400" dirty="0"/>
          </a:p>
        </p:txBody>
      </p:sp>
      <p:sp>
        <p:nvSpPr>
          <p:cNvPr id="6" name="Niveau Indispensable"/>
          <p:cNvSpPr/>
          <p:nvPr/>
        </p:nvSpPr>
        <p:spPr>
          <a:xfrm>
            <a:off x="548640" y="1600200"/>
            <a:ext cx="3566160" cy="548640"/>
          </a:xfrm>
          <a:prstGeom prst="roundRect">
            <a:avLst>
              <a:gd name="adj" fmla="val 20000"/>
            </a:avLst>
          </a:prstGeom>
          <a:solidFill>
            <a:schemeClr val="accent2"/>
          </a:solidFill>
          <a:ln w="12700">
            <a:solidFill>
              <a:schemeClr val="accent2"/>
            </a:solidFill>
            <a:prstDash val="solid"/>
          </a:ln>
        </p:spPr>
      </p:sp>
      <p:sp>
        <p:nvSpPr>
          <p:cNvPr id="7" name="Text 5"/>
          <p:cNvSpPr txBox="1"/>
          <p:nvPr/>
        </p:nvSpPr>
        <p:spPr>
          <a:xfrm>
            <a:off x="548640" y="1600200"/>
            <a:ext cx="3566160" cy="548640"/>
          </a:xfrm>
          <a:prstGeom prst="rect">
            <a:avLst/>
          </a:prstGeom>
          <a:noFill/>
          <a:ln/>
        </p:spPr>
        <p:txBody>
          <a:bodyPr wrap="square" lIns="0" tIns="0" rIns="0" bIns="0" rtlCol="0" anchor="ctr"/>
          <a:lstStyle/>
          <a:p>
            <a:pPr algn="ctr" indent="0" marL="0">
              <a:buNone/>
            </a:pPr>
            <a:r>
              <a:rPr lang="en-US" sz="1800" b="1" dirty="0">
                <a:solidFill>
                  <a:schemeClr val="bg1"/>
                </a:solidFill>
              </a:rPr>
              <a:t>Indispensable</a:t>
            </a:r>
            <a:endParaRPr lang="en-US" sz="1800" dirty="0"/>
          </a:p>
        </p:txBody>
      </p:sp>
      <p:sp>
        <p:nvSpPr>
          <p:cNvPr id="8" name="Critère Fiabilité"/>
          <p:cNvSpPr/>
          <p:nvPr/>
        </p:nvSpPr>
        <p:spPr>
          <a:xfrm>
            <a:off x="548640" y="2331720"/>
            <a:ext cx="3566160" cy="1188720"/>
          </a:xfrm>
          <a:prstGeom prst="roundRect">
            <a:avLst>
              <a:gd name="adj" fmla="val 9231"/>
            </a:avLst>
          </a:prstGeom>
          <a:solidFill>
            <a:schemeClr val="bg2"/>
          </a:solidFill>
          <a:ln w="12700">
            <a:solidFill>
              <a:schemeClr val="bg2"/>
            </a:solidFill>
            <a:prstDash val="solid"/>
          </a:ln>
        </p:spPr>
      </p:sp>
      <p:sp>
        <p:nvSpPr>
          <p:cNvPr id="9" name="Text 7"/>
          <p:cNvSpPr txBox="1"/>
          <p:nvPr/>
        </p:nvSpPr>
        <p:spPr>
          <a:xfrm>
            <a:off x="731520" y="246888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2"/>
                </a:solidFill>
              </a:rPr>
              <a:t>13 / 13</a:t>
            </a:r>
            <a:endParaRPr lang="en-US" sz="2400" dirty="0"/>
          </a:p>
        </p:txBody>
      </p:sp>
      <p:sp>
        <p:nvSpPr>
          <p:cNvPr id="10" name="Text 8"/>
          <p:cNvSpPr txBox="1"/>
          <p:nvPr/>
        </p:nvSpPr>
        <p:spPr>
          <a:xfrm>
            <a:off x="2240280" y="244144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Fiabilité</a:t>
            </a:r>
            <a:endParaRPr lang="en-US" sz="1500" dirty="0"/>
          </a:p>
          <a:p>
            <a:pPr indent="0" marL="0">
              <a:buNone/>
            </a:pPr>
            <a:r>
              <a:rPr lang="en-US" sz="1300" dirty="0">
                <a:solidFill>
                  <a:schemeClr val="tx1"/>
                </a:solidFill>
              </a:rPr>
              <a:t>preuves retrouvées mot pour mot</a:t>
            </a:r>
            <a:endParaRPr lang="en-US" sz="1500" dirty="0"/>
          </a:p>
        </p:txBody>
      </p:sp>
      <p:sp>
        <p:nvSpPr>
          <p:cNvPr id="11" name="Critère Neutralité"/>
          <p:cNvSpPr/>
          <p:nvPr/>
        </p:nvSpPr>
        <p:spPr>
          <a:xfrm>
            <a:off x="548640" y="3657600"/>
            <a:ext cx="3566160" cy="1188720"/>
          </a:xfrm>
          <a:prstGeom prst="roundRect">
            <a:avLst>
              <a:gd name="adj" fmla="val 9231"/>
            </a:avLst>
          </a:prstGeom>
          <a:solidFill>
            <a:schemeClr val="bg2"/>
          </a:solidFill>
          <a:ln w="12700">
            <a:solidFill>
              <a:schemeClr val="bg2"/>
            </a:solidFill>
            <a:prstDash val="solid"/>
          </a:ln>
        </p:spPr>
      </p:sp>
      <p:sp>
        <p:nvSpPr>
          <p:cNvPr id="12" name="Text 10"/>
          <p:cNvSpPr txBox="1"/>
          <p:nvPr/>
        </p:nvSpPr>
        <p:spPr>
          <a:xfrm>
            <a:off x="731520" y="379476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2"/>
                </a:solidFill>
              </a:rPr>
              <a:t>1</a:t>
            </a:r>
            <a:endParaRPr lang="en-US" sz="2400" dirty="0"/>
          </a:p>
        </p:txBody>
      </p:sp>
      <p:sp>
        <p:nvSpPr>
          <p:cNvPr id="13" name="Text 11"/>
          <p:cNvSpPr txBox="1"/>
          <p:nvPr/>
        </p:nvSpPr>
        <p:spPr>
          <a:xfrm>
            <a:off x="2240280" y="376732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Neutralité</a:t>
            </a:r>
            <a:endParaRPr lang="en-US" sz="1500" dirty="0"/>
          </a:p>
          <a:p>
            <a:pPr indent="0" marL="0">
              <a:buNone/>
            </a:pPr>
            <a:r>
              <a:rPr lang="en-US" sz="1300" dirty="0">
                <a:solidFill>
                  <a:schemeClr val="tx1"/>
                </a:solidFill>
              </a:rPr>
              <a:t>cas sans preuve mis en abstention</a:t>
            </a:r>
            <a:endParaRPr lang="en-US" sz="1500" dirty="0"/>
          </a:p>
        </p:txBody>
      </p:sp>
      <p:sp>
        <p:nvSpPr>
          <p:cNvPr id="14" name="Critère Sécurité"/>
          <p:cNvSpPr/>
          <p:nvPr/>
        </p:nvSpPr>
        <p:spPr>
          <a:xfrm>
            <a:off x="548640" y="4983480"/>
            <a:ext cx="3566160" cy="1188720"/>
          </a:xfrm>
          <a:prstGeom prst="roundRect">
            <a:avLst>
              <a:gd name="adj" fmla="val 9231"/>
            </a:avLst>
          </a:prstGeom>
          <a:solidFill>
            <a:schemeClr val="bg2"/>
          </a:solidFill>
          <a:ln w="12700">
            <a:solidFill>
              <a:schemeClr val="bg2"/>
            </a:solidFill>
            <a:prstDash val="solid"/>
          </a:ln>
        </p:spPr>
      </p:sp>
      <p:sp>
        <p:nvSpPr>
          <p:cNvPr id="15" name="Text 13"/>
          <p:cNvSpPr txBox="1"/>
          <p:nvPr/>
        </p:nvSpPr>
        <p:spPr>
          <a:xfrm>
            <a:off x="731520" y="512064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2"/>
                </a:solidFill>
              </a:rPr>
              <a:t>52 / 52</a:t>
            </a:r>
            <a:endParaRPr lang="en-US" sz="2400" dirty="0"/>
          </a:p>
        </p:txBody>
      </p:sp>
      <p:sp>
        <p:nvSpPr>
          <p:cNvPr id="16" name="Text 14"/>
          <p:cNvSpPr txBox="1"/>
          <p:nvPr/>
        </p:nvSpPr>
        <p:spPr>
          <a:xfrm>
            <a:off x="2240280" y="509320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Sécurité</a:t>
            </a:r>
            <a:endParaRPr lang="en-US" sz="1500" dirty="0"/>
          </a:p>
          <a:p>
            <a:pPr indent="0" marL="0">
              <a:buNone/>
            </a:pPr>
            <a:r>
              <a:rPr lang="en-US" sz="1300" dirty="0">
                <a:solidFill>
                  <a:schemeClr val="tx1"/>
                </a:solidFill>
              </a:rPr>
              <a:t>tests SQL réussis</a:t>
            </a:r>
            <a:endParaRPr lang="en-US" sz="1500" dirty="0"/>
          </a:p>
        </p:txBody>
      </p:sp>
      <p:sp>
        <p:nvSpPr>
          <p:cNvPr id="17" name="Niveau Bien"/>
          <p:cNvSpPr/>
          <p:nvPr/>
        </p:nvSpPr>
        <p:spPr>
          <a:xfrm>
            <a:off x="4297680" y="1600200"/>
            <a:ext cx="3566160" cy="548640"/>
          </a:xfrm>
          <a:prstGeom prst="roundRect">
            <a:avLst>
              <a:gd name="adj" fmla="val 20000"/>
            </a:avLst>
          </a:prstGeom>
          <a:solidFill>
            <a:schemeClr val="accent3"/>
          </a:solidFill>
          <a:ln w="12700">
            <a:solidFill>
              <a:schemeClr val="accent3"/>
            </a:solidFill>
            <a:prstDash val="solid"/>
          </a:ln>
        </p:spPr>
      </p:sp>
      <p:sp>
        <p:nvSpPr>
          <p:cNvPr id="18" name="Text 16"/>
          <p:cNvSpPr txBox="1"/>
          <p:nvPr/>
        </p:nvSpPr>
        <p:spPr>
          <a:xfrm>
            <a:off x="4297680" y="1600200"/>
            <a:ext cx="3566160" cy="548640"/>
          </a:xfrm>
          <a:prstGeom prst="rect">
            <a:avLst/>
          </a:prstGeom>
          <a:noFill/>
          <a:ln/>
        </p:spPr>
        <p:txBody>
          <a:bodyPr wrap="square" lIns="0" tIns="0" rIns="0" bIns="0" rtlCol="0" anchor="ctr"/>
          <a:lstStyle/>
          <a:p>
            <a:pPr algn="ctr" indent="0" marL="0">
              <a:buNone/>
            </a:pPr>
            <a:r>
              <a:rPr lang="en-US" sz="1800" b="1" dirty="0">
                <a:solidFill>
                  <a:schemeClr val="bg1"/>
                </a:solidFill>
              </a:rPr>
              <a:t>Bien</a:t>
            </a:r>
            <a:endParaRPr lang="en-US" sz="1800" dirty="0"/>
          </a:p>
        </p:txBody>
      </p:sp>
      <p:sp>
        <p:nvSpPr>
          <p:cNvPr id="19" name="Critère Transparence"/>
          <p:cNvSpPr/>
          <p:nvPr/>
        </p:nvSpPr>
        <p:spPr>
          <a:xfrm>
            <a:off x="4297680" y="2331720"/>
            <a:ext cx="3566160" cy="1188720"/>
          </a:xfrm>
          <a:prstGeom prst="roundRect">
            <a:avLst>
              <a:gd name="adj" fmla="val 9231"/>
            </a:avLst>
          </a:prstGeom>
          <a:solidFill>
            <a:schemeClr val="bg2"/>
          </a:solidFill>
          <a:ln w="12700">
            <a:solidFill>
              <a:schemeClr val="bg2"/>
            </a:solidFill>
            <a:prstDash val="solid"/>
          </a:ln>
        </p:spPr>
      </p:sp>
      <p:sp>
        <p:nvSpPr>
          <p:cNvPr id="20" name="Text 18"/>
          <p:cNvSpPr txBox="1"/>
          <p:nvPr/>
        </p:nvSpPr>
        <p:spPr>
          <a:xfrm>
            <a:off x="4480560" y="246888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3"/>
                </a:solidFill>
              </a:rPr>
              <a:t>9 / 9</a:t>
            </a:r>
            <a:endParaRPr lang="en-US" sz="2400" dirty="0"/>
          </a:p>
        </p:txBody>
      </p:sp>
      <p:sp>
        <p:nvSpPr>
          <p:cNvPr id="21" name="Text 19"/>
          <p:cNvSpPr txBox="1"/>
          <p:nvPr/>
        </p:nvSpPr>
        <p:spPr>
          <a:xfrm>
            <a:off x="5989320" y="244144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Transparence</a:t>
            </a:r>
            <a:endParaRPr lang="en-US" sz="1500" dirty="0"/>
          </a:p>
          <a:p>
            <a:pPr indent="0" marL="0">
              <a:buNone/>
            </a:pPr>
            <a:r>
              <a:rPr lang="en-US" sz="1300" dirty="0">
                <a:solidFill>
                  <a:schemeClr val="tx1"/>
                </a:solidFill>
              </a:rPr>
              <a:t>analyses avec la mention IA</a:t>
            </a:r>
            <a:endParaRPr lang="en-US" sz="1500" dirty="0"/>
          </a:p>
        </p:txBody>
      </p:sp>
      <p:sp>
        <p:nvSpPr>
          <p:cNvPr id="22" name="Critère Données réelles"/>
          <p:cNvSpPr/>
          <p:nvPr/>
        </p:nvSpPr>
        <p:spPr>
          <a:xfrm>
            <a:off x="4297680" y="3657600"/>
            <a:ext cx="3566160" cy="1188720"/>
          </a:xfrm>
          <a:prstGeom prst="roundRect">
            <a:avLst>
              <a:gd name="adj" fmla="val 9231"/>
            </a:avLst>
          </a:prstGeom>
          <a:solidFill>
            <a:schemeClr val="bg2"/>
          </a:solidFill>
          <a:ln w="12700">
            <a:solidFill>
              <a:schemeClr val="bg2"/>
            </a:solidFill>
            <a:prstDash val="solid"/>
          </a:ln>
        </p:spPr>
      </p:sp>
      <p:sp>
        <p:nvSpPr>
          <p:cNvPr id="23" name="Text 21"/>
          <p:cNvSpPr txBox="1"/>
          <p:nvPr/>
        </p:nvSpPr>
        <p:spPr>
          <a:xfrm>
            <a:off x="4480560" y="379476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3"/>
                </a:solidFill>
              </a:rPr>
              <a:t>260</a:t>
            </a:r>
            <a:endParaRPr lang="en-US" sz="2400" dirty="0"/>
          </a:p>
        </p:txBody>
      </p:sp>
      <p:sp>
        <p:nvSpPr>
          <p:cNvPr id="24" name="Text 22"/>
          <p:cNvSpPr txBox="1"/>
          <p:nvPr/>
        </p:nvSpPr>
        <p:spPr>
          <a:xfrm>
            <a:off x="5989320" y="376732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Données réelles</a:t>
            </a:r>
            <a:endParaRPr lang="en-US" sz="1500" dirty="0"/>
          </a:p>
          <a:p>
            <a:pPr indent="0" marL="0">
              <a:buNone/>
            </a:pPr>
            <a:r>
              <a:rPr lang="en-US" sz="1300" dirty="0">
                <a:solidFill>
                  <a:schemeClr val="tx1"/>
                </a:solidFill>
              </a:rPr>
              <a:t>vrais articles de presse</a:t>
            </a:r>
            <a:endParaRPr lang="en-US" sz="1500" dirty="0"/>
          </a:p>
        </p:txBody>
      </p:sp>
      <p:sp>
        <p:nvSpPr>
          <p:cNvPr id="25" name="Critère Site en ligne"/>
          <p:cNvSpPr/>
          <p:nvPr/>
        </p:nvSpPr>
        <p:spPr>
          <a:xfrm>
            <a:off x="4297680" y="4983480"/>
            <a:ext cx="3566160" cy="1188720"/>
          </a:xfrm>
          <a:prstGeom prst="roundRect">
            <a:avLst>
              <a:gd name="adj" fmla="val 9231"/>
            </a:avLst>
          </a:prstGeom>
          <a:solidFill>
            <a:schemeClr val="bg2"/>
          </a:solidFill>
          <a:ln w="12700">
            <a:solidFill>
              <a:schemeClr val="bg2"/>
            </a:solidFill>
            <a:prstDash val="solid"/>
          </a:ln>
        </p:spPr>
      </p:sp>
      <p:sp>
        <p:nvSpPr>
          <p:cNvPr id="26" name="Text 24"/>
          <p:cNvSpPr txBox="1"/>
          <p:nvPr/>
        </p:nvSpPr>
        <p:spPr>
          <a:xfrm>
            <a:off x="4480560" y="512064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3"/>
                </a:solidFill>
              </a:rPr>
              <a:t>Netlify</a:t>
            </a:r>
            <a:endParaRPr lang="en-US" sz="2400" dirty="0"/>
          </a:p>
        </p:txBody>
      </p:sp>
      <p:sp>
        <p:nvSpPr>
          <p:cNvPr id="27" name="Text 25"/>
          <p:cNvSpPr txBox="1"/>
          <p:nvPr/>
        </p:nvSpPr>
        <p:spPr>
          <a:xfrm>
            <a:off x="5989320" y="509320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Site en ligne</a:t>
            </a:r>
            <a:endParaRPr lang="en-US" sz="1500" dirty="0"/>
          </a:p>
          <a:p>
            <a:pPr indent="0" marL="0">
              <a:buNone/>
            </a:pPr>
            <a:r>
              <a:rPr lang="en-US" sz="1300" dirty="0">
                <a:solidFill>
                  <a:schemeClr val="tx1"/>
                </a:solidFill>
              </a:rPr>
              <a:t>utilisable, pas seulement une base</a:t>
            </a:r>
            <a:endParaRPr lang="en-US" sz="1500" dirty="0"/>
          </a:p>
        </p:txBody>
      </p:sp>
      <p:sp>
        <p:nvSpPr>
          <p:cNvPr id="28" name="Niveau Bonus"/>
          <p:cNvSpPr/>
          <p:nvPr/>
        </p:nvSpPr>
        <p:spPr>
          <a:xfrm>
            <a:off x="8046720" y="1600200"/>
            <a:ext cx="3566160" cy="548640"/>
          </a:xfrm>
          <a:prstGeom prst="roundRect">
            <a:avLst>
              <a:gd name="adj" fmla="val 20000"/>
            </a:avLst>
          </a:prstGeom>
          <a:solidFill>
            <a:schemeClr val="accent5"/>
          </a:solidFill>
          <a:ln w="12700">
            <a:solidFill>
              <a:schemeClr val="accent5"/>
            </a:solidFill>
            <a:prstDash val="solid"/>
          </a:ln>
        </p:spPr>
      </p:sp>
      <p:sp>
        <p:nvSpPr>
          <p:cNvPr id="29" name="Text 27"/>
          <p:cNvSpPr txBox="1"/>
          <p:nvPr/>
        </p:nvSpPr>
        <p:spPr>
          <a:xfrm>
            <a:off x="8046720" y="1600200"/>
            <a:ext cx="3566160" cy="548640"/>
          </a:xfrm>
          <a:prstGeom prst="rect">
            <a:avLst/>
          </a:prstGeom>
          <a:noFill/>
          <a:ln/>
        </p:spPr>
        <p:txBody>
          <a:bodyPr wrap="square" lIns="0" tIns="0" rIns="0" bIns="0" rtlCol="0" anchor="ctr"/>
          <a:lstStyle/>
          <a:p>
            <a:pPr algn="ctr" indent="0" marL="0">
              <a:buNone/>
            </a:pPr>
            <a:r>
              <a:rPr lang="en-US" sz="1800" b="1" dirty="0">
                <a:solidFill>
                  <a:schemeClr val="bg1"/>
                </a:solidFill>
              </a:rPr>
              <a:t>Bonus</a:t>
            </a:r>
            <a:endParaRPr lang="en-US" sz="1800" dirty="0"/>
          </a:p>
        </p:txBody>
      </p:sp>
      <p:sp>
        <p:nvSpPr>
          <p:cNvPr id="30" name="Critère Tests API"/>
          <p:cNvSpPr/>
          <p:nvPr/>
        </p:nvSpPr>
        <p:spPr>
          <a:xfrm>
            <a:off x="8046720" y="2331720"/>
            <a:ext cx="3566160" cy="1188720"/>
          </a:xfrm>
          <a:prstGeom prst="roundRect">
            <a:avLst>
              <a:gd name="adj" fmla="val 9231"/>
            </a:avLst>
          </a:prstGeom>
          <a:solidFill>
            <a:schemeClr val="bg2"/>
          </a:solidFill>
          <a:ln w="12700">
            <a:solidFill>
              <a:schemeClr val="bg2"/>
            </a:solidFill>
            <a:prstDash val="solid"/>
          </a:ln>
        </p:spPr>
      </p:sp>
      <p:sp>
        <p:nvSpPr>
          <p:cNvPr id="31" name="Text 29"/>
          <p:cNvSpPr txBox="1"/>
          <p:nvPr/>
        </p:nvSpPr>
        <p:spPr>
          <a:xfrm>
            <a:off x="8229600" y="246888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5"/>
                </a:solidFill>
              </a:rPr>
              <a:t>18</a:t>
            </a:r>
            <a:endParaRPr lang="en-US" sz="2400" dirty="0"/>
          </a:p>
        </p:txBody>
      </p:sp>
      <p:sp>
        <p:nvSpPr>
          <p:cNvPr id="32" name="Text 30"/>
          <p:cNvSpPr txBox="1"/>
          <p:nvPr/>
        </p:nvSpPr>
        <p:spPr>
          <a:xfrm>
            <a:off x="9738360" y="244144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Tests API</a:t>
            </a:r>
            <a:endParaRPr lang="en-US" sz="1500" dirty="0"/>
          </a:p>
          <a:p>
            <a:pPr indent="0" marL="0">
              <a:buNone/>
            </a:pPr>
            <a:r>
              <a:rPr lang="en-US" sz="1300" dirty="0">
                <a:solidFill>
                  <a:schemeClr val="tx1"/>
                </a:solidFill>
              </a:rPr>
              <a:t>prêts, pas encore lancés</a:t>
            </a:r>
            <a:endParaRPr lang="en-US" sz="1500" dirty="0"/>
          </a:p>
        </p:txBody>
      </p:sp>
      <p:sp>
        <p:nvSpPr>
          <p:cNvPr id="33" name="Critère Plus de sources"/>
          <p:cNvSpPr/>
          <p:nvPr/>
        </p:nvSpPr>
        <p:spPr>
          <a:xfrm>
            <a:off x="8046720" y="3657600"/>
            <a:ext cx="3566160" cy="1188720"/>
          </a:xfrm>
          <a:prstGeom prst="roundRect">
            <a:avLst>
              <a:gd name="adj" fmla="val 9231"/>
            </a:avLst>
          </a:prstGeom>
          <a:solidFill>
            <a:schemeClr val="bg2"/>
          </a:solidFill>
          <a:ln w="12700">
            <a:solidFill>
              <a:schemeClr val="bg2"/>
            </a:solidFill>
            <a:prstDash val="solid"/>
          </a:ln>
        </p:spPr>
      </p:sp>
      <p:sp>
        <p:nvSpPr>
          <p:cNvPr id="34" name="Text 32"/>
          <p:cNvSpPr txBox="1"/>
          <p:nvPr/>
        </p:nvSpPr>
        <p:spPr>
          <a:xfrm>
            <a:off x="8229600" y="379476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5"/>
                </a:solidFill>
              </a:rPr>
              <a:t>DARES…</a:t>
            </a:r>
            <a:endParaRPr lang="en-US" sz="2400" dirty="0"/>
          </a:p>
        </p:txBody>
      </p:sp>
      <p:sp>
        <p:nvSpPr>
          <p:cNvPr id="35" name="Text 33"/>
          <p:cNvSpPr txBox="1"/>
          <p:nvPr/>
        </p:nvSpPr>
        <p:spPr>
          <a:xfrm>
            <a:off x="9738360" y="376732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Plus de sources</a:t>
            </a:r>
            <a:endParaRPr lang="en-US" sz="1500" dirty="0"/>
          </a:p>
          <a:p>
            <a:pPr indent="0" marL="0">
              <a:buNone/>
            </a:pPr>
            <a:r>
              <a:rPr lang="en-US" sz="1300" dirty="0">
                <a:solidFill>
                  <a:schemeClr val="tx1"/>
                </a:solidFill>
              </a:rPr>
              <a:t>bloquées pendant le projet</a:t>
            </a:r>
            <a:endParaRPr lang="en-US" sz="1500" dirty="0"/>
          </a:p>
        </p:txBody>
      </p:sp>
      <p:sp>
        <p:nvSpPr>
          <p:cNvPr id="36" name="Critère Vrais jeunes"/>
          <p:cNvSpPr/>
          <p:nvPr/>
        </p:nvSpPr>
        <p:spPr>
          <a:xfrm>
            <a:off x="8046720" y="4983480"/>
            <a:ext cx="3566160" cy="1188720"/>
          </a:xfrm>
          <a:prstGeom prst="roundRect">
            <a:avLst>
              <a:gd name="adj" fmla="val 9231"/>
            </a:avLst>
          </a:prstGeom>
          <a:solidFill>
            <a:schemeClr val="bg2"/>
          </a:solidFill>
          <a:ln w="12700">
            <a:solidFill>
              <a:schemeClr val="bg2"/>
            </a:solidFill>
            <a:prstDash val="solid"/>
          </a:ln>
        </p:spPr>
      </p:sp>
      <p:sp>
        <p:nvSpPr>
          <p:cNvPr id="37" name="Text 35"/>
          <p:cNvSpPr txBox="1"/>
          <p:nvPr/>
        </p:nvSpPr>
        <p:spPr>
          <a:xfrm>
            <a:off x="8229600" y="5120640"/>
            <a:ext cx="1417320" cy="914400"/>
          </a:xfrm>
          <a:prstGeom prst="rect">
            <a:avLst/>
          </a:prstGeom>
          <a:noFill/>
          <a:ln/>
        </p:spPr>
        <p:txBody>
          <a:bodyPr wrap="square" lIns="0" tIns="0" rIns="0" bIns="0" rtlCol="0" anchor="ctr">
            <a:normAutofit/>
          </a:bodyPr>
          <a:lstStyle/>
          <a:p>
            <a:pPr indent="0" marL="0">
              <a:buNone/>
            </a:pPr>
            <a:r>
              <a:rPr lang="en-US" sz="2400" b="1" dirty="0">
                <a:solidFill>
                  <a:schemeClr val="accent5"/>
                </a:solidFill>
              </a:rPr>
              <a:t>à venir</a:t>
            </a:r>
            <a:endParaRPr lang="en-US" sz="2400" dirty="0"/>
          </a:p>
        </p:txBody>
      </p:sp>
      <p:sp>
        <p:nvSpPr>
          <p:cNvPr id="38" name="Text 36"/>
          <p:cNvSpPr txBox="1"/>
          <p:nvPr/>
        </p:nvSpPr>
        <p:spPr>
          <a:xfrm>
            <a:off x="9738360" y="5093208"/>
            <a:ext cx="1737360" cy="969264"/>
          </a:xfrm>
          <a:prstGeom prst="rect">
            <a:avLst/>
          </a:prstGeom>
          <a:noFill/>
          <a:ln/>
        </p:spPr>
        <p:txBody>
          <a:bodyPr wrap="square" lIns="0" tIns="0" rIns="0" bIns="0" rtlCol="0" anchor="ctr"/>
          <a:lstStyle/>
          <a:p>
            <a:pPr indent="0" marL="0">
              <a:buNone/>
            </a:pPr>
            <a:r>
              <a:rPr lang="en-US" sz="1500" b="1" dirty="0">
                <a:solidFill>
                  <a:schemeClr val="tx2"/>
                </a:solidFill>
              </a:rPr>
              <a:t>Vrais jeunes</a:t>
            </a:r>
            <a:endParaRPr lang="en-US" sz="1500" dirty="0"/>
          </a:p>
          <a:p>
            <a:pPr indent="0" marL="0">
              <a:buNone/>
            </a:pPr>
            <a:r>
              <a:rPr lang="en-US" sz="1300" dirty="0">
                <a:solidFill>
                  <a:schemeClr val="tx1"/>
                </a:solidFill>
              </a:rPr>
              <a:t>mesurer si l'appli fait comprendre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ADAPTABILITÉ · LA BASE</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4 tables reliées, 2 vitrines pour le site</a:t>
            </a:r>
            <a:endParaRPr lang="en-US" sz="3400" dirty="0"/>
          </a:p>
        </p:txBody>
      </p:sp>
      <p:sp>
        <p:nvSpPr>
          <p:cNvPr id="6" name="Lien sources-contenus"/>
          <p:cNvSpPr/>
          <p:nvPr/>
        </p:nvSpPr>
        <p:spPr>
          <a:xfrm>
            <a:off x="3657600" y="2514600"/>
            <a:ext cx="914400" cy="0"/>
          </a:xfrm>
          <a:prstGeom prst="line">
            <a:avLst/>
          </a:prstGeom>
          <a:noFill/>
          <a:ln w="25400">
            <a:solidFill>
              <a:schemeClr val="accent5"/>
            </a:solidFill>
            <a:prstDash val="solid"/>
          </a:ln>
        </p:spPr>
      </p:sp>
      <p:sp>
        <p:nvSpPr>
          <p:cNvPr id="7" name="Lien preuves-affirmations"/>
          <p:cNvSpPr/>
          <p:nvPr/>
        </p:nvSpPr>
        <p:spPr>
          <a:xfrm>
            <a:off x="3657600" y="4983480"/>
            <a:ext cx="914400" cy="0"/>
          </a:xfrm>
          <a:prstGeom prst="line">
            <a:avLst/>
          </a:prstGeom>
          <a:noFill/>
          <a:ln w="25400">
            <a:solidFill>
              <a:schemeClr val="accent5"/>
            </a:solidFill>
            <a:prstDash val="solid"/>
          </a:ln>
        </p:spPr>
      </p:sp>
      <p:sp>
        <p:nvSpPr>
          <p:cNvPr id="8" name="Lien sources-preuves"/>
          <p:cNvSpPr/>
          <p:nvPr/>
        </p:nvSpPr>
        <p:spPr>
          <a:xfrm>
            <a:off x="2103120" y="3291840"/>
            <a:ext cx="0" cy="914400"/>
          </a:xfrm>
          <a:prstGeom prst="line">
            <a:avLst/>
          </a:prstGeom>
          <a:noFill/>
          <a:ln w="25400">
            <a:solidFill>
              <a:schemeClr val="accent5"/>
            </a:solidFill>
            <a:prstDash val="solid"/>
          </a:ln>
        </p:spPr>
      </p:sp>
      <p:sp>
        <p:nvSpPr>
          <p:cNvPr id="9" name="Lien contenus-affirmations"/>
          <p:cNvSpPr/>
          <p:nvPr/>
        </p:nvSpPr>
        <p:spPr>
          <a:xfrm>
            <a:off x="6126480" y="3291840"/>
            <a:ext cx="0" cy="914400"/>
          </a:xfrm>
          <a:prstGeom prst="line">
            <a:avLst/>
          </a:prstGeom>
          <a:noFill/>
          <a:ln w="25400">
            <a:solidFill>
              <a:schemeClr val="accent5"/>
            </a:solidFill>
            <a:prstDash val="solid"/>
          </a:ln>
        </p:spPr>
      </p:sp>
      <p:sp>
        <p:nvSpPr>
          <p:cNvPr id="10" name="Text 8"/>
          <p:cNvSpPr txBox="1"/>
          <p:nvPr/>
        </p:nvSpPr>
        <p:spPr>
          <a:xfrm>
            <a:off x="3657600" y="2176272"/>
            <a:ext cx="914400" cy="274320"/>
          </a:xfrm>
          <a:prstGeom prst="rect">
            <a:avLst/>
          </a:prstGeom>
          <a:noFill/>
          <a:ln/>
        </p:spPr>
        <p:txBody>
          <a:bodyPr wrap="square" lIns="0" tIns="0" rIns="0" bIns="0" rtlCol="0" anchor="ctr"/>
          <a:lstStyle/>
          <a:p>
            <a:pPr algn="ctr" indent="0" marL="0">
              <a:buNone/>
            </a:pPr>
            <a:r>
              <a:rPr lang="en-US" sz="1000" dirty="0">
                <a:solidFill>
                  <a:schemeClr val="accent5"/>
                </a:solidFill>
              </a:rPr>
              <a:t>clé étrangère</a:t>
            </a:r>
            <a:endParaRPr lang="en-US" sz="1000" dirty="0"/>
          </a:p>
        </p:txBody>
      </p:sp>
      <p:sp>
        <p:nvSpPr>
          <p:cNvPr id="11" name="Text 9"/>
          <p:cNvSpPr txBox="1"/>
          <p:nvPr/>
        </p:nvSpPr>
        <p:spPr>
          <a:xfrm>
            <a:off x="1737360" y="3429000"/>
            <a:ext cx="4206240" cy="274320"/>
          </a:xfrm>
          <a:prstGeom prst="rect">
            <a:avLst/>
          </a:prstGeom>
          <a:noFill/>
          <a:ln/>
        </p:spPr>
        <p:txBody>
          <a:bodyPr wrap="square" lIns="0" tIns="0" rIns="0" bIns="0" rtlCol="0" anchor="ctr"/>
          <a:lstStyle/>
          <a:p>
            <a:pPr algn="ctr" indent="0" marL="0">
              <a:buNone/>
            </a:pPr>
            <a:r>
              <a:rPr lang="en-US" sz="1000" i="1" dirty="0">
                <a:solidFill>
                  <a:schemeClr val="accent5"/>
                </a:solidFill>
              </a:rPr>
              <a:t>chaque preuve pointe vers une affirmation qui existe</a:t>
            </a:r>
            <a:endParaRPr lang="en-US" sz="1000" dirty="0"/>
          </a:p>
        </p:txBody>
      </p:sp>
      <p:sp>
        <p:nvSpPr>
          <p:cNvPr id="12" name="Table sources"/>
          <p:cNvSpPr/>
          <p:nvPr/>
        </p:nvSpPr>
        <p:spPr>
          <a:xfrm>
            <a:off x="548640" y="1737360"/>
            <a:ext cx="3108960" cy="1554480"/>
          </a:xfrm>
          <a:prstGeom prst="roundRect">
            <a:avLst>
              <a:gd name="adj" fmla="val 7059"/>
            </a:avLst>
          </a:prstGeom>
          <a:solidFill>
            <a:schemeClr val="bg2"/>
          </a:solidFill>
          <a:ln w="12700">
            <a:solidFill>
              <a:schemeClr val="bg2"/>
            </a:solidFill>
            <a:prstDash val="solid"/>
          </a:ln>
        </p:spPr>
      </p:sp>
      <p:sp>
        <p:nvSpPr>
          <p:cNvPr id="13" name="Text 11"/>
          <p:cNvSpPr txBox="1"/>
          <p:nvPr/>
        </p:nvSpPr>
        <p:spPr>
          <a:xfrm>
            <a:off x="731520" y="1920240"/>
            <a:ext cx="1188720" cy="1188720"/>
          </a:xfrm>
          <a:prstGeom prst="rect">
            <a:avLst/>
          </a:prstGeom>
          <a:noFill/>
          <a:ln/>
        </p:spPr>
        <p:txBody>
          <a:bodyPr wrap="square" lIns="0" tIns="0" rIns="0" bIns="0" rtlCol="0" anchor="ctr"/>
          <a:lstStyle/>
          <a:p>
            <a:pPr indent="0" marL="0">
              <a:buNone/>
            </a:pPr>
            <a:r>
              <a:rPr lang="en-US" sz="3600" b="1" dirty="0">
                <a:solidFill>
                  <a:schemeClr val="accent2"/>
                </a:solidFill>
              </a:rPr>
              <a:t>15</a:t>
            </a:r>
            <a:endParaRPr lang="en-US" sz="3600" dirty="0"/>
          </a:p>
        </p:txBody>
      </p:sp>
      <p:sp>
        <p:nvSpPr>
          <p:cNvPr id="14" name="Text 12"/>
          <p:cNvSpPr txBox="1"/>
          <p:nvPr/>
        </p:nvSpPr>
        <p:spPr>
          <a:xfrm>
            <a:off x="1920240" y="1920240"/>
            <a:ext cx="1600200" cy="1188720"/>
          </a:xfrm>
          <a:prstGeom prst="rect">
            <a:avLst/>
          </a:prstGeom>
          <a:noFill/>
          <a:ln/>
        </p:spPr>
        <p:txBody>
          <a:bodyPr wrap="square" lIns="0" tIns="0" rIns="0" bIns="0" rtlCol="0" anchor="ctr"/>
          <a:lstStyle/>
          <a:p>
            <a:pPr indent="0" marL="0">
              <a:buNone/>
            </a:pPr>
            <a:r>
              <a:rPr lang="en-US" sz="1800" b="1" dirty="0">
                <a:solidFill>
                  <a:schemeClr val="tx2"/>
                </a:solidFill>
              </a:rPr>
              <a:t>sources</a:t>
            </a:r>
            <a:endParaRPr lang="en-US" sz="1800" dirty="0"/>
          </a:p>
          <a:p>
            <a:pPr indent="0" marL="0">
              <a:buNone/>
            </a:pPr>
            <a:r>
              <a:rPr lang="en-US" sz="1300" dirty="0">
                <a:solidFill>
                  <a:schemeClr val="tx1"/>
                </a:solidFill>
              </a:rPr>
              <a:t>organismes officiels</a:t>
            </a:r>
            <a:endParaRPr lang="en-US" sz="1800" dirty="0"/>
          </a:p>
        </p:txBody>
      </p:sp>
      <p:sp>
        <p:nvSpPr>
          <p:cNvPr id="15" name="Table contenus"/>
          <p:cNvSpPr/>
          <p:nvPr/>
        </p:nvSpPr>
        <p:spPr>
          <a:xfrm>
            <a:off x="4572000" y="1737360"/>
            <a:ext cx="3108960" cy="1554480"/>
          </a:xfrm>
          <a:prstGeom prst="roundRect">
            <a:avLst>
              <a:gd name="adj" fmla="val 7059"/>
            </a:avLst>
          </a:prstGeom>
          <a:solidFill>
            <a:schemeClr val="bg2"/>
          </a:solidFill>
          <a:ln w="12700">
            <a:solidFill>
              <a:schemeClr val="bg2"/>
            </a:solidFill>
            <a:prstDash val="solid"/>
          </a:ln>
        </p:spPr>
      </p:sp>
      <p:sp>
        <p:nvSpPr>
          <p:cNvPr id="16" name="Text 14"/>
          <p:cNvSpPr txBox="1"/>
          <p:nvPr/>
        </p:nvSpPr>
        <p:spPr>
          <a:xfrm>
            <a:off x="4754880" y="1920240"/>
            <a:ext cx="1188720" cy="1188720"/>
          </a:xfrm>
          <a:prstGeom prst="rect">
            <a:avLst/>
          </a:prstGeom>
          <a:noFill/>
          <a:ln/>
        </p:spPr>
        <p:txBody>
          <a:bodyPr wrap="square" lIns="0" tIns="0" rIns="0" bIns="0" rtlCol="0" anchor="ctr"/>
          <a:lstStyle/>
          <a:p>
            <a:pPr indent="0" marL="0">
              <a:buNone/>
            </a:pPr>
            <a:r>
              <a:rPr lang="en-US" sz="3600" b="1" dirty="0">
                <a:solidFill>
                  <a:schemeClr val="accent2"/>
                </a:solidFill>
              </a:rPr>
              <a:t>760</a:t>
            </a:r>
            <a:endParaRPr lang="en-US" sz="3600" dirty="0"/>
          </a:p>
        </p:txBody>
      </p:sp>
      <p:sp>
        <p:nvSpPr>
          <p:cNvPr id="17" name="Text 15"/>
          <p:cNvSpPr txBox="1"/>
          <p:nvPr/>
        </p:nvSpPr>
        <p:spPr>
          <a:xfrm>
            <a:off x="5943600" y="1920240"/>
            <a:ext cx="1600200" cy="1188720"/>
          </a:xfrm>
          <a:prstGeom prst="rect">
            <a:avLst/>
          </a:prstGeom>
          <a:noFill/>
          <a:ln/>
        </p:spPr>
        <p:txBody>
          <a:bodyPr wrap="square" lIns="0" tIns="0" rIns="0" bIns="0" rtlCol="0" anchor="ctr"/>
          <a:lstStyle/>
          <a:p>
            <a:pPr indent="0" marL="0">
              <a:buNone/>
            </a:pPr>
            <a:r>
              <a:rPr lang="en-US" sz="1800" b="1" dirty="0">
                <a:solidFill>
                  <a:schemeClr val="tx2"/>
                </a:solidFill>
              </a:rPr>
              <a:t>contenus</a:t>
            </a:r>
            <a:endParaRPr lang="en-US" sz="1800" dirty="0"/>
          </a:p>
          <a:p>
            <a:pPr indent="0" marL="0">
              <a:buNone/>
            </a:pPr>
            <a:r>
              <a:rPr lang="en-US" sz="1300" dirty="0">
                <a:solidFill>
                  <a:schemeClr val="tx1"/>
                </a:solidFill>
              </a:rPr>
              <a:t>articles (260 réels + 500 fictifs)</a:t>
            </a:r>
            <a:endParaRPr lang="en-US" sz="1800" dirty="0"/>
          </a:p>
        </p:txBody>
      </p:sp>
      <p:sp>
        <p:nvSpPr>
          <p:cNvPr id="18" name="Table preuves"/>
          <p:cNvSpPr/>
          <p:nvPr/>
        </p:nvSpPr>
        <p:spPr>
          <a:xfrm>
            <a:off x="548640" y="4206240"/>
            <a:ext cx="3108960" cy="1554480"/>
          </a:xfrm>
          <a:prstGeom prst="roundRect">
            <a:avLst>
              <a:gd name="adj" fmla="val 7059"/>
            </a:avLst>
          </a:prstGeom>
          <a:solidFill>
            <a:schemeClr val="bg2"/>
          </a:solidFill>
          <a:ln w="12700">
            <a:solidFill>
              <a:schemeClr val="bg2"/>
            </a:solidFill>
            <a:prstDash val="solid"/>
          </a:ln>
        </p:spPr>
      </p:sp>
      <p:sp>
        <p:nvSpPr>
          <p:cNvPr id="19" name="Text 17"/>
          <p:cNvSpPr txBox="1"/>
          <p:nvPr/>
        </p:nvSpPr>
        <p:spPr>
          <a:xfrm>
            <a:off x="731520" y="4389120"/>
            <a:ext cx="1188720" cy="1188720"/>
          </a:xfrm>
          <a:prstGeom prst="rect">
            <a:avLst/>
          </a:prstGeom>
          <a:noFill/>
          <a:ln/>
        </p:spPr>
        <p:txBody>
          <a:bodyPr wrap="square" lIns="0" tIns="0" rIns="0" bIns="0" rtlCol="0" anchor="ctr"/>
          <a:lstStyle/>
          <a:p>
            <a:pPr indent="0" marL="0">
              <a:buNone/>
            </a:pPr>
            <a:r>
              <a:rPr lang="en-US" sz="3600" b="1" dirty="0">
                <a:solidFill>
                  <a:schemeClr val="accent2"/>
                </a:solidFill>
              </a:rPr>
              <a:t>13</a:t>
            </a:r>
            <a:endParaRPr lang="en-US" sz="3600" dirty="0"/>
          </a:p>
        </p:txBody>
      </p:sp>
      <p:sp>
        <p:nvSpPr>
          <p:cNvPr id="20" name="Text 18"/>
          <p:cNvSpPr txBox="1"/>
          <p:nvPr/>
        </p:nvSpPr>
        <p:spPr>
          <a:xfrm>
            <a:off x="1920240" y="4389120"/>
            <a:ext cx="1600200" cy="1188720"/>
          </a:xfrm>
          <a:prstGeom prst="rect">
            <a:avLst/>
          </a:prstGeom>
          <a:noFill/>
          <a:ln/>
        </p:spPr>
        <p:txBody>
          <a:bodyPr wrap="square" lIns="0" tIns="0" rIns="0" bIns="0" rtlCol="0" anchor="ctr"/>
          <a:lstStyle/>
          <a:p>
            <a:pPr indent="0" marL="0">
              <a:buNone/>
            </a:pPr>
            <a:r>
              <a:rPr lang="en-US" sz="1800" b="1" dirty="0">
                <a:solidFill>
                  <a:schemeClr val="tx2"/>
                </a:solidFill>
              </a:rPr>
              <a:t>preuves</a:t>
            </a:r>
            <a:endParaRPr lang="en-US" sz="1800" dirty="0"/>
          </a:p>
          <a:p>
            <a:pPr indent="0" marL="0">
              <a:buNone/>
            </a:pPr>
            <a:r>
              <a:rPr lang="en-US" sz="1300" dirty="0">
                <a:solidFill>
                  <a:schemeClr val="tx1"/>
                </a:solidFill>
              </a:rPr>
              <a:t>documents officiels</a:t>
            </a:r>
            <a:endParaRPr lang="en-US" sz="1800" dirty="0"/>
          </a:p>
        </p:txBody>
      </p:sp>
      <p:sp>
        <p:nvSpPr>
          <p:cNvPr id="21" name="Table affirmations"/>
          <p:cNvSpPr/>
          <p:nvPr/>
        </p:nvSpPr>
        <p:spPr>
          <a:xfrm>
            <a:off x="4572000" y="4206240"/>
            <a:ext cx="3108960" cy="1554480"/>
          </a:xfrm>
          <a:prstGeom prst="roundRect">
            <a:avLst>
              <a:gd name="adj" fmla="val 7059"/>
            </a:avLst>
          </a:prstGeom>
          <a:solidFill>
            <a:schemeClr val="bg2"/>
          </a:solidFill>
          <a:ln w="12700">
            <a:solidFill>
              <a:schemeClr val="bg2"/>
            </a:solidFill>
            <a:prstDash val="solid"/>
          </a:ln>
        </p:spPr>
      </p:sp>
      <p:sp>
        <p:nvSpPr>
          <p:cNvPr id="22" name="Text 20"/>
          <p:cNvSpPr txBox="1"/>
          <p:nvPr/>
        </p:nvSpPr>
        <p:spPr>
          <a:xfrm>
            <a:off x="4754880" y="4389120"/>
            <a:ext cx="1188720" cy="1188720"/>
          </a:xfrm>
          <a:prstGeom prst="rect">
            <a:avLst/>
          </a:prstGeom>
          <a:noFill/>
          <a:ln/>
        </p:spPr>
        <p:txBody>
          <a:bodyPr wrap="square" lIns="0" tIns="0" rIns="0" bIns="0" rtlCol="0" anchor="ctr"/>
          <a:lstStyle/>
          <a:p>
            <a:pPr indent="0" marL="0">
              <a:buNone/>
            </a:pPr>
            <a:r>
              <a:rPr lang="en-US" sz="3600" b="1" dirty="0">
                <a:solidFill>
                  <a:schemeClr val="accent2"/>
                </a:solidFill>
              </a:rPr>
              <a:t>10</a:t>
            </a:r>
            <a:endParaRPr lang="en-US" sz="3600" dirty="0"/>
          </a:p>
        </p:txBody>
      </p:sp>
      <p:sp>
        <p:nvSpPr>
          <p:cNvPr id="23" name="Text 21"/>
          <p:cNvSpPr txBox="1"/>
          <p:nvPr/>
        </p:nvSpPr>
        <p:spPr>
          <a:xfrm>
            <a:off x="5943600" y="4389120"/>
            <a:ext cx="1600200" cy="1188720"/>
          </a:xfrm>
          <a:prstGeom prst="rect">
            <a:avLst/>
          </a:prstGeom>
          <a:noFill/>
          <a:ln/>
        </p:spPr>
        <p:txBody>
          <a:bodyPr wrap="square" lIns="0" tIns="0" rIns="0" bIns="0" rtlCol="0" anchor="ctr"/>
          <a:lstStyle/>
          <a:p>
            <a:pPr indent="0" marL="0">
              <a:buNone/>
            </a:pPr>
            <a:r>
              <a:rPr lang="en-US" sz="1800" b="1" dirty="0">
                <a:solidFill>
                  <a:schemeClr val="tx2"/>
                </a:solidFill>
              </a:rPr>
              <a:t>affirmations</a:t>
            </a:r>
            <a:endParaRPr lang="en-US" sz="1800" dirty="0"/>
          </a:p>
          <a:p>
            <a:pPr indent="0" marL="0">
              <a:buNone/>
            </a:pPr>
            <a:r>
              <a:rPr lang="en-US" sz="1300" dirty="0">
                <a:solidFill>
                  <a:schemeClr val="tx1"/>
                </a:solidFill>
              </a:rPr>
              <a:t>phrases vérifiées</a:t>
            </a:r>
            <a:endParaRPr lang="en-US" sz="1800" dirty="0"/>
          </a:p>
        </p:txBody>
      </p:sp>
      <p:sp>
        <p:nvSpPr>
          <p:cNvPr id="24" name="Vitrines"/>
          <p:cNvSpPr/>
          <p:nvPr/>
        </p:nvSpPr>
        <p:spPr>
          <a:xfrm>
            <a:off x="8275320" y="1737360"/>
            <a:ext cx="3337560" cy="4023360"/>
          </a:xfrm>
          <a:prstGeom prst="roundRect">
            <a:avLst>
              <a:gd name="adj" fmla="val 3288"/>
            </a:avLst>
          </a:prstGeom>
          <a:solidFill>
            <a:schemeClr val="tx2"/>
          </a:solidFill>
          <a:ln w="12700">
            <a:solidFill>
              <a:schemeClr val="tx2"/>
            </a:solidFill>
            <a:prstDash val="solid"/>
          </a:ln>
        </p:spPr>
      </p:sp>
      <p:sp>
        <p:nvSpPr>
          <p:cNvPr id="25" name="Text 23"/>
          <p:cNvSpPr txBox="1"/>
          <p:nvPr/>
        </p:nvSpPr>
        <p:spPr>
          <a:xfrm>
            <a:off x="8503920" y="1920240"/>
            <a:ext cx="2926080" cy="3657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Les 2 vues</a:t>
            </a:r>
            <a:endParaRPr lang="en-US" sz="2000" dirty="0"/>
          </a:p>
          <a:p>
            <a:pPr indent="0" marL="0">
              <a:spcAft>
                <a:spcPts val="400"/>
              </a:spcAft>
              <a:buNone/>
            </a:pPr>
            <a:r>
              <a:rPr lang="en-US" sz="1300" dirty="0">
                <a:solidFill>
                  <a:schemeClr val="accent6"/>
                </a:solidFill>
              </a:rPr>
              <a:t>Le site ne lit jamais les tables directement.</a:t>
            </a:r>
            <a:endParaRPr lang="en-US" sz="2000" dirty="0"/>
          </a:p>
          <a:p>
            <a:pPr indent="0" marL="0">
              <a:spcAft>
                <a:spcPts val="400"/>
              </a:spcAft>
              <a:buNone/>
            </a:pPr>
            <a:r>
              <a:rPr lang="en-US" sz="600" dirty="0">
                <a:solidFill>
                  <a:srgbClr val="000000"/>
                </a:solidFill>
              </a:rPr>
              <a:t> </a:t>
            </a:r>
            <a:endParaRPr lang="en-US" sz="2000" dirty="0"/>
          </a:p>
          <a:p>
            <a:pPr indent="0" marL="0">
              <a:spcAft>
                <a:spcPts val="400"/>
              </a:spcAft>
              <a:buNone/>
            </a:pPr>
            <a:r>
              <a:rPr lang="en-US" sz="1500" b="1" dirty="0">
                <a:solidFill>
                  <a:schemeClr val="accent4"/>
                </a:solidFill>
                <a:latin typeface="Courier New" pitchFamily="34" charset="0"/>
                <a:ea typeface="Courier New" pitchFamily="34" charset="-122"/>
                <a:cs typeface="Courier New" pitchFamily="34" charset="-120"/>
              </a:rPr>
              <a:t>v_feed_verifie</a:t>
            </a:r>
            <a:endParaRPr lang="en-US" sz="2000" dirty="0"/>
          </a:p>
          <a:p>
            <a:pPr indent="0" marL="0">
              <a:spcAft>
                <a:spcPts val="400"/>
              </a:spcAft>
              <a:buNone/>
            </a:pPr>
            <a:r>
              <a:rPr lang="en-US" sz="1400" dirty="0">
                <a:solidFill>
                  <a:schemeClr val="bg1"/>
                </a:solidFill>
              </a:rPr>
              <a:t>le fil des 260 vrais articles, sans les 500 fictifs</a:t>
            </a:r>
            <a:endParaRPr lang="en-US" sz="2000" dirty="0"/>
          </a:p>
          <a:p>
            <a:pPr indent="0" marL="0">
              <a:spcAft>
                <a:spcPts val="400"/>
              </a:spcAft>
              <a:buNone/>
            </a:pPr>
            <a:r>
              <a:rPr lang="en-US" sz="600" dirty="0">
                <a:solidFill>
                  <a:srgbClr val="000000"/>
                </a:solidFill>
              </a:rPr>
              <a:t> </a:t>
            </a:r>
            <a:endParaRPr lang="en-US" sz="2000" dirty="0"/>
          </a:p>
          <a:p>
            <a:pPr indent="0" marL="0">
              <a:spcAft>
                <a:spcPts val="400"/>
              </a:spcAft>
              <a:buNone/>
            </a:pPr>
            <a:r>
              <a:rPr lang="en-US" sz="1500" b="1" dirty="0">
                <a:solidFill>
                  <a:schemeClr val="accent4"/>
                </a:solidFill>
                <a:latin typeface="Courier New" pitchFamily="34" charset="0"/>
                <a:ea typeface="Courier New" pitchFamily="34" charset="-122"/>
                <a:cs typeface="Courier New" pitchFamily="34" charset="-120"/>
              </a:rPr>
              <a:t>v_analyses_publiques</a:t>
            </a:r>
            <a:endParaRPr lang="en-US" sz="2000" dirty="0"/>
          </a:p>
          <a:p>
            <a:pPr indent="0" marL="0">
              <a:spcAft>
                <a:spcPts val="400"/>
              </a:spcAft>
              <a:buNone/>
            </a:pPr>
            <a:r>
              <a:rPr lang="en-US" sz="1400" dirty="0">
                <a:solidFill>
                  <a:schemeClr val="bg1"/>
                </a:solidFill>
              </a:rPr>
              <a:t>les 9 analyses publiées, leurs 13 preuves, leurs limites et la mention IA</a:t>
            </a:r>
            <a:endParaRPr lang="en-US" sz="2000" dirty="0"/>
          </a:p>
        </p:txBody>
      </p:sp>
      <p:sp>
        <p:nvSpPr>
          <p:cNvPr id="26" name="Text 2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500" i="1" dirty="0">
                <a:solidFill>
                  <a:schemeClr val="tx2"/>
                </a:solidFill>
              </a:rPr>
              <a:t>Supabase = le bâtiment · tables = rayons · clés étrangères = fils · vues = vitrines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ADAPTABILITÉ · LES RÔLES</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Un gardien devant chaque table : la RLS</a:t>
            </a:r>
            <a:endParaRPr lang="en-US" sz="3400" dirty="0"/>
          </a:p>
        </p:txBody>
      </p:sp>
      <p:sp>
        <p:nvSpPr>
          <p:cNvPr id="6" name="Rôle Visiteur"/>
          <p:cNvSpPr/>
          <p:nvPr/>
        </p:nvSpPr>
        <p:spPr>
          <a:xfrm>
            <a:off x="548640" y="1600200"/>
            <a:ext cx="4480560" cy="941832"/>
          </a:xfrm>
          <a:prstGeom prst="roundRect">
            <a:avLst>
              <a:gd name="adj" fmla="val 11650"/>
            </a:avLst>
          </a:prstGeom>
          <a:solidFill>
            <a:schemeClr val="bg2"/>
          </a:solidFill>
          <a:ln w="12700">
            <a:solidFill>
              <a:schemeClr val="bg2"/>
            </a:solidFill>
            <a:prstDash val="solid"/>
          </a:ln>
        </p:spPr>
      </p:sp>
      <p:sp>
        <p:nvSpPr>
          <p:cNvPr id="7" name="Badge Visiteur"/>
          <p:cNvSpPr/>
          <p:nvPr/>
        </p:nvSpPr>
        <p:spPr>
          <a:xfrm>
            <a:off x="731520" y="1819656"/>
            <a:ext cx="502920" cy="502920"/>
          </a:xfrm>
          <a:prstGeom prst="ellipse">
            <a:avLst/>
          </a:prstGeom>
          <a:solidFill>
            <a:schemeClr val="tx2"/>
          </a:solidFill>
          <a:ln w="12700">
            <a:solidFill>
              <a:schemeClr val="tx2"/>
            </a:solidFill>
            <a:prstDash val="solid"/>
          </a:ln>
        </p:spPr>
      </p:sp>
      <p:sp>
        <p:nvSpPr>
          <p:cNvPr id="8" name="Text 6"/>
          <p:cNvSpPr txBox="1"/>
          <p:nvPr/>
        </p:nvSpPr>
        <p:spPr>
          <a:xfrm>
            <a:off x="731520" y="181965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1417320" y="1691640"/>
            <a:ext cx="3520440" cy="777240"/>
          </a:xfrm>
          <a:prstGeom prst="rect">
            <a:avLst/>
          </a:prstGeom>
          <a:noFill/>
          <a:ln/>
        </p:spPr>
        <p:txBody>
          <a:bodyPr wrap="square" lIns="0" tIns="0" rIns="0" bIns="0" rtlCol="0" anchor="ctr"/>
          <a:lstStyle/>
          <a:p>
            <a:pPr indent="0" marL="0">
              <a:buNone/>
            </a:pPr>
            <a:r>
              <a:rPr lang="en-US" sz="1600" b="1" dirty="0">
                <a:solidFill>
                  <a:schemeClr val="tx2"/>
                </a:solidFill>
              </a:rPr>
              <a:t>Visiteur  </a:t>
            </a:r>
            <a:pPr indent="0" marL="0">
              <a:buNone/>
            </a:pPr>
            <a:r>
              <a:rPr lang="en-US" sz="1200" dirty="0">
                <a:solidFill>
                  <a:schemeClr val="accent5"/>
                </a:solidFill>
                <a:latin typeface="Courier New" pitchFamily="34" charset="0"/>
                <a:ea typeface="Courier New" pitchFamily="34" charset="-122"/>
                <a:cs typeface="Courier New" pitchFamily="34" charset="-120"/>
              </a:rPr>
              <a:t>anon</a:t>
            </a:r>
            <a:endParaRPr lang="en-US" sz="1600" dirty="0"/>
          </a:p>
          <a:p>
            <a:pPr indent="0" marL="0">
              <a:buNone/>
            </a:pPr>
            <a:r>
              <a:rPr lang="en-US" sz="1400" dirty="0">
                <a:solidFill>
                  <a:schemeClr val="tx1"/>
                </a:solidFill>
              </a:rPr>
              <a:t>lit seulement ce qui est public</a:t>
            </a:r>
            <a:endParaRPr lang="en-US" sz="1600" dirty="0"/>
          </a:p>
        </p:txBody>
      </p:sp>
      <p:sp>
        <p:nvSpPr>
          <p:cNvPr id="10" name="Rôle Connecté sans rôle"/>
          <p:cNvSpPr/>
          <p:nvPr/>
        </p:nvSpPr>
        <p:spPr>
          <a:xfrm>
            <a:off x="548640" y="2679192"/>
            <a:ext cx="4480560" cy="941832"/>
          </a:xfrm>
          <a:prstGeom prst="roundRect">
            <a:avLst>
              <a:gd name="adj" fmla="val 11650"/>
            </a:avLst>
          </a:prstGeom>
          <a:solidFill>
            <a:schemeClr val="bg2"/>
          </a:solidFill>
          <a:ln w="12700">
            <a:solidFill>
              <a:schemeClr val="bg2"/>
            </a:solidFill>
            <a:prstDash val="solid"/>
          </a:ln>
        </p:spPr>
      </p:sp>
      <p:sp>
        <p:nvSpPr>
          <p:cNvPr id="11" name="Badge Connecté sans rôle"/>
          <p:cNvSpPr/>
          <p:nvPr/>
        </p:nvSpPr>
        <p:spPr>
          <a:xfrm>
            <a:off x="731520" y="2898648"/>
            <a:ext cx="502920" cy="502920"/>
          </a:xfrm>
          <a:prstGeom prst="ellipse">
            <a:avLst/>
          </a:prstGeom>
          <a:solidFill>
            <a:schemeClr val="tx2"/>
          </a:solidFill>
          <a:ln w="12700">
            <a:solidFill>
              <a:schemeClr val="tx2"/>
            </a:solidFill>
            <a:prstDash val="solid"/>
          </a:ln>
        </p:spPr>
      </p:sp>
      <p:sp>
        <p:nvSpPr>
          <p:cNvPr id="12" name="Text 10"/>
          <p:cNvSpPr txBox="1"/>
          <p:nvPr/>
        </p:nvSpPr>
        <p:spPr>
          <a:xfrm>
            <a:off x="731520" y="2898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1417320" y="2770632"/>
            <a:ext cx="3520440" cy="777240"/>
          </a:xfrm>
          <a:prstGeom prst="rect">
            <a:avLst/>
          </a:prstGeom>
          <a:noFill/>
          <a:ln/>
        </p:spPr>
        <p:txBody>
          <a:bodyPr wrap="square" lIns="0" tIns="0" rIns="0" bIns="0" rtlCol="0" anchor="ctr"/>
          <a:lstStyle/>
          <a:p>
            <a:pPr indent="0" marL="0">
              <a:buNone/>
            </a:pPr>
            <a:r>
              <a:rPr lang="en-US" sz="1600" b="1" dirty="0">
                <a:solidFill>
                  <a:schemeClr val="tx2"/>
                </a:solidFill>
              </a:rPr>
              <a:t>Connecté sans rôle  </a:t>
            </a:r>
            <a:pPr indent="0" marL="0">
              <a:buNone/>
            </a:pPr>
            <a:r>
              <a:rPr lang="en-US" sz="1200" dirty="0">
                <a:solidFill>
                  <a:schemeClr val="accent5"/>
                </a:solidFill>
                <a:latin typeface="Courier New" pitchFamily="34" charset="0"/>
                <a:ea typeface="Courier New" pitchFamily="34" charset="-122"/>
                <a:cs typeface="Courier New" pitchFamily="34" charset="-120"/>
              </a:rPr>
              <a:t>authenticated</a:t>
            </a:r>
            <a:endParaRPr lang="en-US" sz="1600" dirty="0"/>
          </a:p>
          <a:p>
            <a:pPr indent="0" marL="0">
              <a:buNone/>
            </a:pPr>
            <a:r>
              <a:rPr lang="en-US" sz="1400" dirty="0">
                <a:solidFill>
                  <a:schemeClr val="tx1"/>
                </a:solidFill>
              </a:rPr>
              <a:t>mêmes droits qu'un visiteur</a:t>
            </a:r>
            <a:endParaRPr lang="en-US" sz="1600" dirty="0"/>
          </a:p>
        </p:txBody>
      </p:sp>
      <p:sp>
        <p:nvSpPr>
          <p:cNvPr id="14" name="Rôle Administrateur"/>
          <p:cNvSpPr/>
          <p:nvPr/>
        </p:nvSpPr>
        <p:spPr>
          <a:xfrm>
            <a:off x="548640" y="3758184"/>
            <a:ext cx="4480560" cy="941832"/>
          </a:xfrm>
          <a:prstGeom prst="roundRect">
            <a:avLst>
              <a:gd name="adj" fmla="val 11650"/>
            </a:avLst>
          </a:prstGeom>
          <a:solidFill>
            <a:schemeClr val="bg2"/>
          </a:solidFill>
          <a:ln w="12700">
            <a:solidFill>
              <a:schemeClr val="bg2"/>
            </a:solidFill>
            <a:prstDash val="solid"/>
          </a:ln>
        </p:spPr>
      </p:sp>
      <p:sp>
        <p:nvSpPr>
          <p:cNvPr id="15" name="Badge Administrateur"/>
          <p:cNvSpPr/>
          <p:nvPr/>
        </p:nvSpPr>
        <p:spPr>
          <a:xfrm>
            <a:off x="731520" y="397764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417320" y="3849624"/>
            <a:ext cx="3520440" cy="777240"/>
          </a:xfrm>
          <a:prstGeom prst="rect">
            <a:avLst/>
          </a:prstGeom>
          <a:noFill/>
          <a:ln/>
        </p:spPr>
        <p:txBody>
          <a:bodyPr wrap="square" lIns="0" tIns="0" rIns="0" bIns="0" rtlCol="0" anchor="ctr"/>
          <a:lstStyle/>
          <a:p>
            <a:pPr indent="0" marL="0">
              <a:buNone/>
            </a:pPr>
            <a:r>
              <a:rPr lang="en-US" sz="1600" b="1" dirty="0">
                <a:solidFill>
                  <a:schemeClr val="tx2"/>
                </a:solidFill>
              </a:rPr>
              <a:t>Administrateur  </a:t>
            </a:r>
            <a:pPr indent="0" marL="0">
              <a:buNone/>
            </a:pPr>
            <a:r>
              <a:rPr lang="en-US" sz="1200" dirty="0">
                <a:solidFill>
                  <a:schemeClr val="accent5"/>
                </a:solidFill>
                <a:latin typeface="Courier New" pitchFamily="34" charset="0"/>
                <a:ea typeface="Courier New" pitchFamily="34" charset="-122"/>
                <a:cs typeface="Courier New" pitchFamily="34" charset="-120"/>
              </a:rPr>
              <a:t>role_equipe = 'admin'</a:t>
            </a:r>
            <a:endParaRPr lang="en-US" sz="1600" dirty="0"/>
          </a:p>
          <a:p>
            <a:pPr indent="0" marL="0">
              <a:buNone/>
            </a:pPr>
            <a:r>
              <a:rPr lang="en-US" sz="1400" dirty="0">
                <a:solidFill>
                  <a:schemeClr val="tx1"/>
                </a:solidFill>
              </a:rPr>
              <a:t>voit tout, écrit via les triggers</a:t>
            </a:r>
            <a:endParaRPr lang="en-US" sz="1600" dirty="0"/>
          </a:p>
        </p:txBody>
      </p:sp>
      <p:sp>
        <p:nvSpPr>
          <p:cNvPr id="18" name="Rôle Pipeline"/>
          <p:cNvSpPr/>
          <p:nvPr/>
        </p:nvSpPr>
        <p:spPr>
          <a:xfrm>
            <a:off x="548640" y="4837176"/>
            <a:ext cx="4480560" cy="941832"/>
          </a:xfrm>
          <a:prstGeom prst="roundRect">
            <a:avLst>
              <a:gd name="adj" fmla="val 11650"/>
            </a:avLst>
          </a:prstGeom>
          <a:solidFill>
            <a:schemeClr val="bg2"/>
          </a:solidFill>
          <a:ln w="12700">
            <a:solidFill>
              <a:schemeClr val="bg2"/>
            </a:solidFill>
            <a:prstDash val="solid"/>
          </a:ln>
        </p:spPr>
      </p:sp>
      <p:sp>
        <p:nvSpPr>
          <p:cNvPr id="19" name="Badge Pipeline"/>
          <p:cNvSpPr/>
          <p:nvPr/>
        </p:nvSpPr>
        <p:spPr>
          <a:xfrm>
            <a:off x="731520" y="5056632"/>
            <a:ext cx="502920" cy="502920"/>
          </a:xfrm>
          <a:prstGeom prst="ellipse">
            <a:avLst/>
          </a:prstGeom>
          <a:solidFill>
            <a:schemeClr val="tx2"/>
          </a:solidFill>
          <a:ln w="12700">
            <a:solidFill>
              <a:schemeClr val="tx2"/>
            </a:solidFill>
            <a:prstDash val="solid"/>
          </a:ln>
        </p:spPr>
      </p:sp>
      <p:sp>
        <p:nvSpPr>
          <p:cNvPr id="20" name="Text 18"/>
          <p:cNvSpPr txBox="1"/>
          <p:nvPr/>
        </p:nvSpPr>
        <p:spPr>
          <a:xfrm>
            <a:off x="731520" y="505663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417320" y="4928616"/>
            <a:ext cx="3520440" cy="777240"/>
          </a:xfrm>
          <a:prstGeom prst="rect">
            <a:avLst/>
          </a:prstGeom>
          <a:noFill/>
          <a:ln/>
        </p:spPr>
        <p:txBody>
          <a:bodyPr wrap="square" lIns="0" tIns="0" rIns="0" bIns="0" rtlCol="0" anchor="ctr"/>
          <a:lstStyle/>
          <a:p>
            <a:pPr indent="0" marL="0">
              <a:buNone/>
            </a:pPr>
            <a:r>
              <a:rPr lang="en-US" sz="1600" b="1" dirty="0">
                <a:solidFill>
                  <a:schemeClr val="tx2"/>
                </a:solidFill>
              </a:rPr>
              <a:t>Pipeline  </a:t>
            </a:r>
            <a:pPr indent="0" marL="0">
              <a:buNone/>
            </a:pPr>
            <a:r>
              <a:rPr lang="en-US" sz="1200" dirty="0">
                <a:solidFill>
                  <a:schemeClr val="accent5"/>
                </a:solidFill>
                <a:latin typeface="Courier New" pitchFamily="34" charset="0"/>
                <a:ea typeface="Courier New" pitchFamily="34" charset="-122"/>
                <a:cs typeface="Courier New" pitchFamily="34" charset="-120"/>
              </a:rPr>
              <a:t>demelo_pipeline</a:t>
            </a:r>
            <a:endParaRPr lang="en-US" sz="1600" dirty="0"/>
          </a:p>
          <a:p>
            <a:pPr indent="0" marL="0">
              <a:buNone/>
            </a:pPr>
            <a:r>
              <a:rPr lang="en-US" sz="1400" dirty="0">
                <a:solidFill>
                  <a:schemeClr val="tx1"/>
                </a:solidFill>
              </a:rPr>
              <a:t>collecte les articles, ne supprime rien</a:t>
            </a:r>
            <a:endParaRPr lang="en-US" sz="1600" dirty="0"/>
          </a:p>
        </p:txBody>
      </p:sp>
      <p:sp>
        <p:nvSpPr>
          <p:cNvPr id="22" name="Text 20"/>
          <p:cNvSpPr txBox="1"/>
          <p:nvPr/>
        </p:nvSpPr>
        <p:spPr>
          <a:xfrm>
            <a:off x="5349240" y="1600200"/>
            <a:ext cx="6263640" cy="365760"/>
          </a:xfrm>
          <a:prstGeom prst="rect">
            <a:avLst/>
          </a:prstGeom>
          <a:noFill/>
          <a:ln/>
        </p:spPr>
        <p:txBody>
          <a:bodyPr wrap="square" lIns="0" tIns="0" rIns="0" bIns="0" rtlCol="0" anchor="ctr"/>
          <a:lstStyle/>
          <a:p>
            <a:pPr indent="0" marL="0">
              <a:buNone/>
            </a:pPr>
            <a:r>
              <a:rPr lang="en-US" sz="1600" b="1" dirty="0">
                <a:solidFill>
                  <a:schemeClr val="tx2"/>
                </a:solidFill>
              </a:rPr>
              <a:t>Exemple réel : les 3 policies de la table contenus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349240" y="2011680"/>
          <a:ext cx="6263640" cy="914400"/>
        </p:xfrm>
        <a:graphic>
          <a:graphicData uri="http://schemas.openxmlformats.org/drawingml/2006/table">
            <a:tbl>
              <a:tblPr/>
              <a:tblGrid>
                <a:gridCol w="1920240"/>
                <a:gridCol w="914400"/>
                <a:gridCol w="3429000"/>
              </a:tblGrid>
              <a:tr h="566928">
                <a:tc>
                  <a:txBody>
                    <a:bodyPr/>
                    <a:lstStyle/>
                    <a:p>
                      <a:pPr indent="0" marL="0">
                        <a:buNone/>
                      </a:pPr>
                      <a:r>
                        <a:rPr lang="en-US" sz="1300" b="1" dirty="0">
                          <a:solidFill>
                            <a:schemeClr val="bg1"/>
                          </a:solidFill>
                        </a:rPr>
                        <a:t>Policy</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Action</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Effet</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r>
              <a:tr h="566928">
                <a:tc>
                  <a:txBody>
                    <a:bodyPr/>
                    <a:lstStyle/>
                    <a:p>
                      <a:pPr indent="0" marL="0">
                        <a:buNone/>
                      </a:pPr>
                      <a:r>
                        <a:rPr lang="en-US" sz="1200" dirty="0">
                          <a:solidFill>
                            <a:schemeClr val="accent3"/>
                          </a:solidFill>
                          <a:latin typeface="Courier New" pitchFamily="34" charset="0"/>
                          <a:ea typeface="Courier New" pitchFamily="34" charset="-122"/>
                          <a:cs typeface="Courier New" pitchFamily="34" charset="-120"/>
                        </a:rPr>
                        <a:t>contenus_lecture</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SELECT</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Tout le monde lit les vrais articles publics ; les 500 fictifs restent cachés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accent3"/>
                          </a:solidFill>
                          <a:latin typeface="Courier New" pitchFamily="34" charset="0"/>
                          <a:ea typeface="Courier New" pitchFamily="34" charset="-122"/>
                          <a:cs typeface="Courier New" pitchFamily="34" charset="-120"/>
                        </a:rPr>
                        <a:t>contenus_ajout</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INSERT</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Seuls les administrateurs ajoutent des articles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r h="566928">
                <a:tc>
                  <a:txBody>
                    <a:bodyPr/>
                    <a:lstStyle/>
                    <a:p>
                      <a:pPr indent="0" marL="0">
                        <a:buNone/>
                      </a:pPr>
                      <a:r>
                        <a:rPr lang="en-US" sz="1200" dirty="0">
                          <a:solidFill>
                            <a:schemeClr val="accent3"/>
                          </a:solidFill>
                          <a:latin typeface="Courier New" pitchFamily="34" charset="0"/>
                          <a:ea typeface="Courier New" pitchFamily="34" charset="-122"/>
                          <a:cs typeface="Courier New" pitchFamily="34" charset="-120"/>
                        </a:rPr>
                        <a:t>contenus_modif</a:t>
                      </a:r>
                      <a:endParaRPr lang="en-US" sz="1200" dirty="0">
                        <a:latin typeface="Courier New" charset="0"/>
                        <a:ea typeface="Courier New" charset="0"/>
                        <a:cs typeface="Courier New" charset="0"/>
                      </a:endParaRPr>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UPDATE</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Seuls les administrateurs modifient les articles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bl>
          </a:graphicData>
        </a:graphic>
      </p:graphicFrame>
      <p:sp>
        <p:nvSpPr>
          <p:cNvPr id="24" name="À retenir"/>
          <p:cNvSpPr/>
          <p:nvPr/>
        </p:nvSpPr>
        <p:spPr>
          <a:xfrm>
            <a:off x="5349240" y="4526280"/>
            <a:ext cx="6263640" cy="1280160"/>
          </a:xfrm>
          <a:prstGeom prst="roundRect">
            <a:avLst>
              <a:gd name="adj" fmla="val 8571"/>
            </a:avLst>
          </a:prstGeom>
          <a:solidFill>
            <a:schemeClr val="tx2"/>
          </a:solidFill>
          <a:ln w="12700">
            <a:solidFill>
              <a:schemeClr val="tx2"/>
            </a:solidFill>
            <a:prstDash val="solid"/>
          </a:ln>
        </p:spPr>
      </p:sp>
      <p:sp>
        <p:nvSpPr>
          <p:cNvPr id="25" name="Text 22"/>
          <p:cNvSpPr txBox="1"/>
          <p:nvPr/>
        </p:nvSpPr>
        <p:spPr>
          <a:xfrm>
            <a:off x="5577840" y="4617720"/>
            <a:ext cx="5806440" cy="1097280"/>
          </a:xfrm>
          <a:prstGeom prst="rect">
            <a:avLst/>
          </a:prstGeom>
          <a:noFill/>
          <a:ln/>
        </p:spPr>
        <p:txBody>
          <a:bodyPr wrap="square" lIns="0" tIns="0" rIns="0" bIns="0" rtlCol="0" anchor="ctr"/>
          <a:lstStyle/>
          <a:p>
            <a:pPr indent="0" marL="0">
              <a:spcAft>
                <a:spcPts val="400"/>
              </a:spcAft>
              <a:buNone/>
            </a:pPr>
            <a:r>
              <a:rPr lang="en-US" sz="1400" b="1" dirty="0">
                <a:solidFill>
                  <a:schemeClr val="accent4"/>
                </a:solidFill>
              </a:rPr>
              <a:t>Attention : « authenticated » ne veut pas dire tous les utilisateurs.</a:t>
            </a:r>
            <a:endParaRPr lang="en-US" sz="1400" dirty="0"/>
          </a:p>
          <a:p>
            <a:pPr indent="0" marL="0">
              <a:spcAft>
                <a:spcPts val="400"/>
              </a:spcAft>
              <a:buNone/>
            </a:pPr>
            <a:r>
              <a:rPr lang="en-US" sz="1400" dirty="0">
                <a:solidFill>
                  <a:schemeClr val="bg1"/>
                </a:solidFill>
              </a:rPr>
              <a:t>Chaque policy appelle prive.est_admin(), qui lit app_metadata.role_equipe dans le jeton de connexion. L'utilisateur ne peut pas modifier ce champ lui-même.</a:t>
            </a:r>
            <a:endParaRPr lang="en-US" sz="1400" dirty="0"/>
          </a:p>
        </p:txBody>
      </p:sp>
      <p:sp>
        <p:nvSpPr>
          <p:cNvPr id="26" name="Text 2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500" i="1" dirty="0">
                <a:solidFill>
                  <a:schemeClr val="tx2"/>
                </a:solidFill>
              </a:rPr>
              <a:t>GRANT = la porte (quelle action) · POLICY = le filtre (quelles lignes)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ADAPTABILITÉ · LES TESTS</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On a testé chaque badge sur le vrai projet</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1920240"/>
                <a:gridCol w="960120"/>
                <a:gridCol w="868680"/>
                <a:gridCol w="1005840"/>
                <a:gridCol w="1143000"/>
                <a:gridCol w="1325880"/>
              </a:tblGrid>
              <a:tr h="640080">
                <a:tc>
                  <a:txBody>
                    <a:bodyPr/>
                    <a:lstStyle/>
                    <a:p>
                      <a:pPr indent="0" marL="0">
                        <a:buNone/>
                      </a:pPr>
                      <a:r>
                        <a:rPr lang="en-US" sz="1300" b="1" dirty="0">
                          <a:solidFill>
                            <a:schemeClr val="bg1"/>
                          </a:solidFill>
                        </a:rPr>
                        <a:t>Profil</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Articles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Fictifs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Analyses</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Cas n° 68</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Écriture</a:t>
                      </a:r>
                      <a:endParaRPr lang="en-US" sz="13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Visiteur</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260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invisible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refusée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Connecté sans rôle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260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invisible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0 ligne modifiée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Administrateur</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760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visible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via les triggers</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Pipeline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260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visible</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sans suppression</a:t>
                      </a:r>
                      <a:endParaRPr lang="en-US" sz="1400" dirty="0"/>
                    </a:p>
                  </a:txBody>
                  <a:tcPr marL="73152" marR="73152" marT="73152" marB="73152" anchor="ctr">
                    <a:lnL w="9525" cap="flat" cmpd="sng" algn="ctr">
                      <a:solidFill>
                        <a:srgbClr val="DDE2EC"/>
                      </a:solidFill>
                      <a:prstDash val="solid"/>
                      <a:round/>
                      <a:headEnd type="none" w="med" len="med"/>
                      <a:tailEnd type="none" w="med" len="med"/>
                    </a:lnL>
                    <a:lnR w="9525" cap="flat" cmpd="sng" algn="ctr">
                      <a:solidFill>
                        <a:srgbClr val="DDE2EC"/>
                      </a:solidFill>
                      <a:prstDash val="solid"/>
                      <a:round/>
                      <a:headEnd type="none" w="med" len="med"/>
                      <a:tailEnd type="none" w="med" len="med"/>
                    </a:lnR>
                    <a:lnT w="9525" cap="flat" cmpd="sng" algn="ctr">
                      <a:solidFill>
                        <a:srgbClr val="DDE2EC"/>
                      </a:solidFill>
                      <a:prstDash val="solid"/>
                      <a:round/>
                      <a:headEnd type="none" w="med" len="med"/>
                      <a:tailEnd type="none" w="med" len="med"/>
                    </a:lnT>
                    <a:lnB w="9525" cap="flat" cmpd="sng" algn="ctr">
                      <a:solidFill>
                        <a:srgbClr val="DDE2EC"/>
                      </a:solidFill>
                      <a:prstDash val="solid"/>
                      <a:round/>
                      <a:headEnd type="none" w="med" len="med"/>
                      <a:tailEnd type="none" w="med" len="med"/>
                    </a:lnB>
                    <a:solidFill>
                      <a:schemeClr val="bg1"/>
                    </a:solidFill>
                  </a:tcPr>
                </a:tc>
              </a:tr>
            </a:tbl>
          </a:graphicData>
        </a:graphic>
      </p:graphicFrame>
      <p:sp>
        <p:nvSpPr>
          <p:cNvPr id="7" name="Text 4"/>
          <p:cNvSpPr txBox="1"/>
          <p:nvPr/>
        </p:nvSpPr>
        <p:spPr>
          <a:xfrm>
            <a:off x="548640" y="5120640"/>
            <a:ext cx="7223760" cy="685800"/>
          </a:xfrm>
          <a:prstGeom prst="rect">
            <a:avLst/>
          </a:prstGeom>
          <a:noFill/>
          <a:ln/>
        </p:spPr>
        <p:txBody>
          <a:bodyPr wrap="square" lIns="0" tIns="0" rIns="0" bIns="0" rtlCol="0" anchor="ctr"/>
          <a:lstStyle/>
          <a:p>
            <a:pPr indent="0" marL="0">
              <a:buNone/>
            </a:pPr>
            <a:r>
              <a:rPr lang="en-US" sz="1400" dirty="0">
                <a:solidFill>
                  <a:schemeClr val="tx1"/>
                </a:solidFill>
              </a:rPr>
              <a:t>Les 500 données fictives ne sont visibles que par l'administrateur ; l'analyse sensible n° 68 attend une décision humaine.</a:t>
            </a:r>
            <a:endParaRPr lang="en-US" sz="1400" dirty="0"/>
          </a:p>
        </p:txBody>
      </p:sp>
      <p:sp>
        <p:nvSpPr>
          <p:cNvPr id="8" name="Résultat des tests"/>
          <p:cNvSpPr/>
          <p:nvPr/>
        </p:nvSpPr>
        <p:spPr>
          <a:xfrm>
            <a:off x="8138160" y="1645920"/>
            <a:ext cx="3474720" cy="4160520"/>
          </a:xfrm>
          <a:prstGeom prst="roundRect">
            <a:avLst>
              <a:gd name="adj" fmla="val 3158"/>
            </a:avLst>
          </a:prstGeom>
          <a:solidFill>
            <a:schemeClr val="tx2"/>
          </a:solidFill>
          <a:ln w="12700">
            <a:solidFill>
              <a:schemeClr val="tx2"/>
            </a:solidFill>
            <a:prstDash val="solid"/>
          </a:ln>
        </p:spPr>
      </p:sp>
      <p:sp>
        <p:nvSpPr>
          <p:cNvPr id="9" name="Text 6"/>
          <p:cNvSpPr txBox="1"/>
          <p:nvPr/>
        </p:nvSpPr>
        <p:spPr>
          <a:xfrm>
            <a:off x="8138160" y="1828800"/>
            <a:ext cx="3474720" cy="1005840"/>
          </a:xfrm>
          <a:prstGeom prst="rect">
            <a:avLst/>
          </a:prstGeom>
          <a:noFill/>
          <a:ln/>
        </p:spPr>
        <p:txBody>
          <a:bodyPr wrap="square" lIns="0" tIns="0" rIns="0" bIns="0" rtlCol="0" anchor="ctr"/>
          <a:lstStyle/>
          <a:p>
            <a:pPr algn="ctr" indent="0" marL="0">
              <a:buNone/>
            </a:pPr>
            <a:r>
              <a:rPr lang="en-US" sz="6000" b="1" dirty="0">
                <a:solidFill>
                  <a:schemeClr val="accent4"/>
                </a:solidFill>
              </a:rPr>
              <a:t>52 / 52</a:t>
            </a:r>
            <a:endParaRPr lang="en-US" sz="6000" dirty="0"/>
          </a:p>
        </p:txBody>
      </p:sp>
      <p:sp>
        <p:nvSpPr>
          <p:cNvPr id="10" name="Text 7"/>
          <p:cNvSpPr txBox="1"/>
          <p:nvPr/>
        </p:nvSpPr>
        <p:spPr>
          <a:xfrm>
            <a:off x="8138160" y="2788920"/>
            <a:ext cx="3474720" cy="365760"/>
          </a:xfrm>
          <a:prstGeom prst="rect">
            <a:avLst/>
          </a:prstGeom>
          <a:noFill/>
          <a:ln/>
        </p:spPr>
        <p:txBody>
          <a:bodyPr wrap="square" lIns="0" tIns="0" rIns="0" bIns="0" rtlCol="0" anchor="ctr"/>
          <a:lstStyle/>
          <a:p>
            <a:pPr algn="ctr" indent="0" marL="0">
              <a:buNone/>
            </a:pPr>
            <a:r>
              <a:rPr lang="en-US" sz="1600" dirty="0">
                <a:solidFill>
                  <a:schemeClr val="bg1"/>
                </a:solidFill>
              </a:rPr>
              <a:t>tests SQL réussis</a:t>
            </a:r>
            <a:endParaRPr lang="en-US" sz="1600" dirty="0"/>
          </a:p>
        </p:txBody>
      </p:sp>
      <p:sp>
        <p:nvSpPr>
          <p:cNvPr id="11" name="Text 8"/>
          <p:cNvSpPr txBox="1"/>
          <p:nvPr/>
        </p:nvSpPr>
        <p:spPr>
          <a:xfrm>
            <a:off x="8412480" y="333756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35 tests P : les policies</a:t>
            </a:r>
            <a:endParaRPr lang="en-US" sz="1400" dirty="0"/>
          </a:p>
          <a:p>
            <a:pPr marL="342900" indent="-342900">
              <a:spcAft>
                <a:spcPts val="600"/>
              </a:spcAft>
              <a:buSzPct val="100000"/>
              <a:buChar char="•"/>
            </a:pPr>
            <a:r>
              <a:rPr lang="en-US" sz="1400" dirty="0">
                <a:solidFill>
                  <a:schemeClr val="bg1"/>
                </a:solidFill>
              </a:rPr>
              <a:t>10 tests G : les GRANT</a:t>
            </a:r>
            <a:endParaRPr lang="en-US" sz="1400" dirty="0"/>
          </a:p>
          <a:p>
            <a:pPr marL="342900" indent="-342900">
              <a:spcAft>
                <a:spcPts val="600"/>
              </a:spcAft>
              <a:buSzPct val="100000"/>
              <a:buChar char="•"/>
            </a:pPr>
            <a:r>
              <a:rPr lang="en-US" sz="1400" dirty="0">
                <a:solidFill>
                  <a:schemeClr val="bg1"/>
                </a:solidFill>
              </a:rPr>
              <a:t>7 tests W : les écritures interdites</a:t>
            </a:r>
            <a:endParaRPr lang="en-US" sz="1400" dirty="0"/>
          </a:p>
          <a:p>
            <a:pPr marL="342900" indent="-342900">
              <a:spcAft>
                <a:spcPts val="600"/>
              </a:spcAft>
              <a:buSzPct val="100000"/>
              <a:buChar char="•"/>
            </a:pPr>
            <a:r>
              <a:rPr lang="en-US" sz="1400" dirty="0">
                <a:solidFill>
                  <a:schemeClr val="accent4"/>
                </a:solidFill>
              </a:rPr>
              <a:t>W4 bloqué à 51/52, compris et corrigé</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stille numéro"/>
          <p:cNvSpPr/>
          <p:nvPr/>
        </p:nvSpPr>
        <p:spPr>
          <a:xfrm>
            <a:off x="548640" y="256032"/>
            <a:ext cx="310896" cy="310896"/>
          </a:xfrm>
          <a:prstGeom prst="ellipse">
            <a:avLst/>
          </a:prstGeom>
          <a:solidFill>
            <a:schemeClr val="accent2"/>
          </a:solidFill>
          <a:ln w="12700">
            <a:solidFill>
              <a:schemeClr val="accent2"/>
            </a:solidFill>
            <a:prstDash val="solid"/>
          </a:ln>
        </p:spPr>
      </p:sp>
      <p:sp>
        <p:nvSpPr>
          <p:cNvPr id="3" name="Numéro"/>
          <p:cNvSpPr txBox="1"/>
          <p:nvPr/>
        </p:nvSpPr>
        <p:spPr>
          <a:xfrm>
            <a:off x="548640" y="2560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 name="Thème"/>
          <p:cNvSpPr txBox="1"/>
          <p:nvPr/>
        </p:nvSpPr>
        <p:spPr>
          <a:xfrm>
            <a:off x="960120" y="256032"/>
            <a:ext cx="7315200" cy="310896"/>
          </a:xfrm>
          <a:prstGeom prst="rect">
            <a:avLst/>
          </a:prstGeom>
          <a:noFill/>
          <a:ln/>
        </p:spPr>
        <p:txBody>
          <a:bodyPr wrap="square" lIns="0" tIns="0" rIns="0" bIns="0" rtlCol="0" anchor="ctr"/>
          <a:lstStyle/>
          <a:p>
            <a:pPr indent="0" marL="0">
              <a:buNone/>
            </a:pPr>
            <a:r>
              <a:rPr lang="en-US" sz="1200" b="1" spc="200" kern="0" dirty="0">
                <a:solidFill>
                  <a:schemeClr val="accent2"/>
                </a:solidFill>
              </a:rPr>
              <a:t>DÉTERMINATION</a:t>
            </a:r>
            <a:endParaRPr lang="en-US" sz="1200" dirty="0"/>
          </a:p>
        </p:txBody>
      </p:sp>
      <p:sp>
        <p:nvSpPr>
          <p:cNvPr id="5"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Nos obstacles, et comment on s'est organisés</a:t>
            </a:r>
            <a:endParaRPr lang="en-US" sz="3400" dirty="0"/>
          </a:p>
        </p:txBody>
      </p:sp>
      <p:sp>
        <p:nvSpPr>
          <p:cNvPr id="6" name="Obstacle 1"/>
          <p:cNvSpPr/>
          <p:nvPr/>
        </p:nvSpPr>
        <p:spPr>
          <a:xfrm>
            <a:off x="548640" y="169164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280160" y="1600200"/>
            <a:ext cx="5760720" cy="1234440"/>
          </a:xfrm>
          <a:prstGeom prst="rect">
            <a:avLst/>
          </a:prstGeom>
          <a:noFill/>
          <a:ln/>
        </p:spPr>
        <p:txBody>
          <a:bodyPr wrap="square" lIns="0" tIns="0" rIns="0" bIns="0" rtlCol="0" anchor="t"/>
          <a:lstStyle/>
          <a:p>
            <a:pPr indent="0" marL="0">
              <a:buNone/>
            </a:pPr>
            <a:r>
              <a:rPr lang="en-US" sz="1800" b="1" dirty="0">
                <a:solidFill>
                  <a:schemeClr val="tx2"/>
                </a:solidFill>
              </a:rPr>
              <a:t>Le scraping</a:t>
            </a:r>
            <a:endParaRPr lang="en-US" sz="1800" dirty="0"/>
          </a:p>
          <a:p>
            <a:pPr indent="0" marL="0">
              <a:buNone/>
            </a:pPr>
            <a:r>
              <a:rPr lang="en-US" sz="1400" dirty="0">
                <a:solidFill>
                  <a:schemeClr val="tx1"/>
                </a:solidFill>
              </a:rPr>
              <a:t>Légifrance et AFP Factuel bloquent les robots (403), le Conseil constitutionnel répond 429. Aucun contournement : on a renoncé aux affirmations qu'on ne pouvait pas prouver.</a:t>
            </a:r>
            <a:endParaRPr lang="en-US" sz="1800" dirty="0"/>
          </a:p>
        </p:txBody>
      </p:sp>
      <p:sp>
        <p:nvSpPr>
          <p:cNvPr id="9" name="Obstacle 2"/>
          <p:cNvSpPr/>
          <p:nvPr/>
        </p:nvSpPr>
        <p:spPr>
          <a:xfrm>
            <a:off x="548640" y="3063240"/>
            <a:ext cx="548640" cy="548640"/>
          </a:xfrm>
          <a:prstGeom prst="ellipse">
            <a:avLst/>
          </a:prstGeom>
          <a:solidFill>
            <a:schemeClr val="accent2"/>
          </a:solidFill>
          <a:ln w="12700">
            <a:solidFill>
              <a:schemeClr val="accent2"/>
            </a:solidFill>
            <a:prstDash val="solid"/>
          </a:ln>
        </p:spPr>
      </p:sp>
      <p:sp>
        <p:nvSpPr>
          <p:cNvPr id="10" name="Text 8"/>
          <p:cNvSpPr txBox="1"/>
          <p:nvPr/>
        </p:nvSpPr>
        <p:spPr>
          <a:xfrm>
            <a:off x="548640" y="3063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280160" y="2971800"/>
            <a:ext cx="5760720" cy="1234440"/>
          </a:xfrm>
          <a:prstGeom prst="rect">
            <a:avLst/>
          </a:prstGeom>
          <a:noFill/>
          <a:ln/>
        </p:spPr>
        <p:txBody>
          <a:bodyPr wrap="square" lIns="0" tIns="0" rIns="0" bIns="0" rtlCol="0" anchor="t"/>
          <a:lstStyle/>
          <a:p>
            <a:pPr indent="0" marL="0">
              <a:buNone/>
            </a:pPr>
            <a:r>
              <a:rPr lang="en-US" sz="1800" b="1" dirty="0">
                <a:solidFill>
                  <a:schemeClr val="tx2"/>
                </a:solidFill>
              </a:rPr>
              <a:t>La sécurité</a:t>
            </a:r>
            <a:endParaRPr lang="en-US" sz="1800" dirty="0"/>
          </a:p>
          <a:p>
            <a:pPr indent="0" marL="0">
              <a:buNone/>
            </a:pPr>
            <a:r>
              <a:rPr lang="en-US" sz="1400" dirty="0">
                <a:solidFill>
                  <a:schemeClr val="tx1"/>
                </a:solidFill>
              </a:rPr>
              <a:t>Écrire et faire passer les 52 tests RLS, jusqu'au dernier bloqué à 51/52 : le vrai projet refusait dès le GRANT.</a:t>
            </a:r>
            <a:endParaRPr lang="en-US" sz="1800" dirty="0"/>
          </a:p>
        </p:txBody>
      </p:sp>
      <p:sp>
        <p:nvSpPr>
          <p:cNvPr id="12" name="Obstacle 3"/>
          <p:cNvSpPr/>
          <p:nvPr/>
        </p:nvSpPr>
        <p:spPr>
          <a:xfrm>
            <a:off x="548640" y="4434840"/>
            <a:ext cx="548640" cy="548640"/>
          </a:xfrm>
          <a:prstGeom prst="ellipse">
            <a:avLst/>
          </a:prstGeom>
          <a:solidFill>
            <a:schemeClr val="accent2"/>
          </a:solidFill>
          <a:ln w="12700">
            <a:solidFill>
              <a:schemeClr val="accent2"/>
            </a:solidFill>
            <a:prstDash val="solid"/>
          </a:ln>
        </p:spPr>
      </p:sp>
      <p:sp>
        <p:nvSpPr>
          <p:cNvPr id="13" name="Text 11"/>
          <p:cNvSpPr txBox="1"/>
          <p:nvPr/>
        </p:nvSpPr>
        <p:spPr>
          <a:xfrm>
            <a:off x="548640" y="4434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280160" y="4343400"/>
            <a:ext cx="5760720" cy="1234440"/>
          </a:xfrm>
          <a:prstGeom prst="rect">
            <a:avLst/>
          </a:prstGeom>
          <a:noFill/>
          <a:ln/>
        </p:spPr>
        <p:txBody>
          <a:bodyPr wrap="square" lIns="0" tIns="0" rIns="0" bIns="0" rtlCol="0" anchor="t"/>
          <a:lstStyle/>
          <a:p>
            <a:pPr indent="0" marL="0">
              <a:buNone/>
            </a:pPr>
            <a:r>
              <a:rPr lang="en-US" sz="1800" b="1" dirty="0">
                <a:solidFill>
                  <a:schemeClr val="tx2"/>
                </a:solidFill>
              </a:rPr>
              <a:t>L'organisation</a:t>
            </a:r>
            <a:endParaRPr lang="en-US" sz="1800" dirty="0"/>
          </a:p>
          <a:p>
            <a:pPr indent="0" marL="0">
              <a:buNone/>
            </a:pPr>
            <a:r>
              <a:rPr lang="en-US" sz="1400" dirty="0">
                <a:solidFill>
                  <a:schemeClr val="tx1"/>
                </a:solidFill>
              </a:rPr>
              <a:t>Chaque partie dépendait des autres : le site des vues, les vues des tables, les analyses des sources.</a:t>
            </a:r>
            <a:endParaRPr lang="en-US" sz="1800" dirty="0"/>
          </a:p>
        </p:txBody>
      </p:sp>
      <p:sp>
        <p:nvSpPr>
          <p:cNvPr id="15" name="Binôme Base de données"/>
          <p:cNvSpPr/>
          <p:nvPr/>
        </p:nvSpPr>
        <p:spPr>
          <a:xfrm>
            <a:off x="7498080" y="1600200"/>
            <a:ext cx="4114800" cy="1783080"/>
          </a:xfrm>
          <a:prstGeom prst="roundRect">
            <a:avLst>
              <a:gd name="adj" fmla="val 6154"/>
            </a:avLst>
          </a:prstGeom>
          <a:solidFill>
            <a:schemeClr val="tx2"/>
          </a:solidFill>
          <a:ln w="12700">
            <a:solidFill>
              <a:schemeClr val="tx2"/>
            </a:solidFill>
            <a:prstDash val="solid"/>
          </a:ln>
        </p:spPr>
      </p:sp>
      <p:sp>
        <p:nvSpPr>
          <p:cNvPr id="16" name="Text 14"/>
          <p:cNvSpPr txBox="1"/>
          <p:nvPr/>
        </p:nvSpPr>
        <p:spPr>
          <a:xfrm>
            <a:off x="7726680" y="1737360"/>
            <a:ext cx="3657600" cy="1508760"/>
          </a:xfrm>
          <a:prstGeom prst="rect">
            <a:avLst/>
          </a:prstGeom>
          <a:noFill/>
          <a:ln/>
        </p:spPr>
        <p:txBody>
          <a:bodyPr wrap="square" lIns="0" tIns="0" rIns="0" bIns="0" rtlCol="0" anchor="ctr"/>
          <a:lstStyle/>
          <a:p>
            <a:pPr indent="0" marL="0">
              <a:spcAft>
                <a:spcPts val="400"/>
              </a:spcAft>
              <a:buNone/>
            </a:pPr>
            <a:r>
              <a:rPr lang="en-US" sz="1800" b="1" dirty="0">
                <a:solidFill>
                  <a:schemeClr val="accent4"/>
                </a:solidFill>
              </a:rPr>
              <a:t>Base de données</a:t>
            </a:r>
            <a:endParaRPr lang="en-US" sz="1800" dirty="0"/>
          </a:p>
          <a:p>
            <a:pPr indent="0" marL="0">
              <a:spcAft>
                <a:spcPts val="400"/>
              </a:spcAft>
              <a:buNone/>
            </a:pPr>
            <a:r>
              <a:rPr lang="en-US" sz="1600" b="1" dirty="0">
                <a:solidFill>
                  <a:schemeClr val="bg1"/>
                </a:solidFill>
              </a:rPr>
              <a:t>Alexis S · Mehdi</a:t>
            </a:r>
            <a:endParaRPr lang="en-US" sz="1800" dirty="0"/>
          </a:p>
          <a:p>
            <a:pPr indent="0" marL="0">
              <a:spcAft>
                <a:spcPts val="400"/>
              </a:spcAft>
              <a:buNone/>
            </a:pPr>
            <a:r>
              <a:rPr lang="en-US" sz="1400" dirty="0">
                <a:solidFill>
                  <a:schemeClr val="bg1"/>
                </a:solidFill>
              </a:rPr>
              <a:t>Supabase : tables, RLS, vues et tests</a:t>
            </a:r>
            <a:endParaRPr lang="en-US" sz="1800" dirty="0"/>
          </a:p>
        </p:txBody>
      </p:sp>
      <p:sp>
        <p:nvSpPr>
          <p:cNvPr id="17" name="Binôme Contenu et site"/>
          <p:cNvSpPr/>
          <p:nvPr/>
        </p:nvSpPr>
        <p:spPr>
          <a:xfrm>
            <a:off x="7498080" y="3566160"/>
            <a:ext cx="4114800" cy="1783080"/>
          </a:xfrm>
          <a:prstGeom prst="roundRect">
            <a:avLst>
              <a:gd name="adj" fmla="val 6154"/>
            </a:avLst>
          </a:prstGeom>
          <a:solidFill>
            <a:schemeClr val="bg2"/>
          </a:solidFill>
          <a:ln w="12700">
            <a:solidFill>
              <a:schemeClr val="bg2"/>
            </a:solidFill>
            <a:prstDash val="solid"/>
          </a:ln>
        </p:spPr>
      </p:sp>
      <p:sp>
        <p:nvSpPr>
          <p:cNvPr id="18" name="Text 16"/>
          <p:cNvSpPr txBox="1"/>
          <p:nvPr/>
        </p:nvSpPr>
        <p:spPr>
          <a:xfrm>
            <a:off x="7726680" y="3703320"/>
            <a:ext cx="3657600" cy="150876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Contenu et site</a:t>
            </a:r>
            <a:endParaRPr lang="en-US" sz="1800" dirty="0"/>
          </a:p>
          <a:p>
            <a:pPr indent="0" marL="0">
              <a:spcAft>
                <a:spcPts val="400"/>
              </a:spcAft>
              <a:buNone/>
            </a:pPr>
            <a:r>
              <a:rPr lang="en-US" sz="1600" b="1" dirty="0">
                <a:solidFill>
                  <a:schemeClr val="tx2"/>
                </a:solidFill>
              </a:rPr>
              <a:t>Alexis H · Aurélie</a:t>
            </a:r>
            <a:endParaRPr lang="en-US" sz="1800" dirty="0"/>
          </a:p>
          <a:p>
            <a:pPr indent="0" marL="0">
              <a:spcAft>
                <a:spcPts val="400"/>
              </a:spcAft>
              <a:buNone/>
            </a:pPr>
            <a:r>
              <a:rPr lang="en-US" sz="1400" dirty="0">
                <a:solidFill>
                  <a:schemeClr val="tx1"/>
                </a:solidFill>
              </a:rPr>
              <a:t>Veille, vérification des sources, qualité des données, site sur Netlify</a:t>
            </a:r>
            <a:endParaRPr lang="en-US" sz="1800" dirty="0"/>
          </a:p>
        </p:txBody>
      </p:sp>
      <p:sp>
        <p:nvSpPr>
          <p:cNvPr id="19" name="Text 17"/>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800" b="1" i="1" dirty="0">
                <a:solidFill>
                  <a:schemeClr val="accent2"/>
                </a:solidFill>
              </a:rPr>
              <a:t>Pas de preuve, pas de verdict.</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Demelo">
  <a:themeElements>
    <a:clrScheme name="Demelo">
      <a:dk1>
        <a:srgbClr val="1B1F2A"/>
      </a:dk1>
      <a:lt1>
        <a:srgbClr val="FFFFFF"/>
      </a:lt1>
      <a:dk2>
        <a:srgbClr val="16243F"/>
      </a:dk2>
      <a:lt2>
        <a:srgbClr val="F1F3F7"/>
      </a:lt2>
      <a:accent1>
        <a:srgbClr val="16243F"/>
      </a:accent1>
      <a:accent2>
        <a:srgbClr val="E4572E"/>
      </a:accent2>
      <a:accent3>
        <a:srgbClr val="2E8B57"/>
      </a:accent3>
      <a:accent4>
        <a:srgbClr val="F2A541"/>
      </a:accent4>
      <a:accent5>
        <a:srgbClr val="5B6478"/>
      </a:accent5>
      <a:accent6>
        <a:srgbClr val="DDE2EC"/>
      </a:accent6>
      <a:hlink>
        <a:srgbClr val="E4572E"/>
      </a:hlink>
      <a:folHlink>
        <a:srgbClr val="5B6478"/>
      </a:folHlink>
    </a:clrScheme>
    <a:fontScheme name="Demel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Démêlo — Oral du 29 octobre 2026</dc:title>
  <dc:subject>PptxGenJS Presentation</dc:subject>
  <dc:creator>Équipe Démêlo</dc:creator>
  <cp:lastModifiedBy>Équipe Démêlo</cp:lastModifiedBy>
  <cp:revision>1</cp:revision>
  <dcterms:created xsi:type="dcterms:W3CDTF">2026-10-29T15:42:56Z</dcterms:created>
  <dcterms:modified xsi:type="dcterms:W3CDTF">2026-10-29T15:42:56Z</dcterms:modified>
</cp:coreProperties>
</file>